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b3f914-9ba4-3db9-b909-e6354273462f}">
          <p14:sldIdLst>
            <p14:sldId id="256"/>
          </p14:sldIdLst>
        </p14:section>
        <p14:section name="Phase 2 build" id="{b7a7b5a8-fd44-a082-20e3-ad01d9c07111}">
          <p14:sldIdLst>
            <p14:sldId id="257"/>
            <p14:sldId id="258"/>
            <p14:sldId id="259"/>
          </p14:sldIdLst>
        </p14:section>
        <p14:section name="Evidence" id="{cd2c9010-0758-9968-4713-3b4cb63c0803}">
          <p14:sldIdLst>
            <p14:sldId id="260"/>
          </p14:sldIdLst>
        </p14:section>
        <p14:section name="Literature survey" id="{90a9c9ba-196b-3e13-ae96-c3a660a9857f}">
          <p14:sldIdLst>
            <p14:sldId id="261"/>
            <p14:sldId id="262"/>
            <p14:sldId id="263"/>
            <p14:sldId id="264"/>
          </p14:sldIdLst>
        </p14:section>
        <p14:section name="Industry comparison" id="{d5c79f16-9cf5-cf89-ce84-9f2b0b7f57b1}">
          <p14:sldIdLst>
            <p14:sldId id="265"/>
            <p14:sldId id="266"/>
          </p14:sldIdLst>
        </p14:section>
        <p14:section name="Future scope" id="{4eacdd82-c657-d8e9-b446-9c3e85eec7fa}">
          <p14:sldIdLst>
            <p14:sldId id="267"/>
            <p14:sldId id="268"/>
          </p14:sldIdLst>
        </p14:section>
        <p14:section name="Closing" id="{acadacc4-ca8d-e9c2-758c-650598cfba32}">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030"/>
                </a:solidFill>
                <a:latin typeface="+mn-lt"/>
              </a:defRPr>
            </a:pPr>
            <a:r>
              <a:rPr sz="1400" b="0" i="0" u="none" strike="noStrike">
                <a:solidFill>
                  <a:srgbClr val="1B2030"/>
                </a:solidFill>
                <a:latin typeface="+mn-lt"/>
              </a:rPr>
              <a:t>Tokens per repair (final full run)</a:t>
            </a:r>
          </a:p>
        </c:rich>
      </c:tx>
      <c:layout/>
      <c:overlay val="0"/>
    </c:title>
    <c:autoTitleDeleted val="0"/>
    <c:plotArea>
      <c:layout/>
      <c:barChart>
        <c:barDir val="bar"/>
        <c:grouping val="clustered"/>
        <c:varyColors val="0"/>
        <c:ser>
          <c:idx val="0"/>
          <c:order val="0"/>
          <c:tx>
            <c:strRef>
              <c:f>Sheet1!$B$1</c:f>
              <c:strCache>
                <c:ptCount val="1"/>
                <c:pt idx="0">
                  <c:v>Tokens</c:v>
                </c:pt>
              </c:strCache>
            </c:strRef>
          </c:tx>
          <c:spPr>
            <a:solidFill>
              <a:srgbClr val="14B8A6"/>
            </a:solidFill>
            <a:effectLst/>
          </c:spPr>
          <c:invertIfNegative val="0"/>
          <c:dLbls>
            <c:numFmt formatCode="#,##0" sourceLinked="0"/>
            <c:txPr>
              <a:bodyPr/>
              <a:lstStyle/>
              <a:p>
                <a:pPr>
                  <a:defRPr b="0" i="0" strike="noStrike" sz="1000" u="none">
                    <a:solidFill>
                      <a:srgbClr val="1B2030"/>
                    </a:solidFill>
                    <a:latin typeface="+mn-lt"/>
                  </a:defRPr>
                </a:pPr>
              </a:p>
            </c:txPr>
            <c:showLegendKey val="0"/>
            <c:showVal val="1"/>
            <c:showCatName val="0"/>
            <c:showSerName val="0"/>
            <c:showPercent val="0"/>
            <c:showBubbleSize val="0"/>
            <c:showLeaderLines val="0"/>
          </c:dLbls>
          <c:cat>
            <c:multiLvlStrRef>
              <c:f>Sheet1!$A$2:$A$16</c:f>
              <c:multiLvlStrCache>
                <c:ptCount val="15"/>
                <c:lvl>
                  <c:pt idx="0">
                    <c:v>catalog-typo</c:v>
                  </c:pt>
                  <c:pt idx="1">
                    <c:v>catalog-price</c:v>
                  </c:pt>
                  <c:pt idx="2">
                    <c:v>catalog-truncate</c:v>
                  </c:pt>
                  <c:pt idx="3">
                    <c:v>inventory-oversell</c:v>
                  </c:pt>
                  <c:pt idx="4">
                    <c:v>inventory-decrement</c:v>
                  </c:pt>
                  <c:pt idx="5">
                    <c:v>inventory-keyerror</c:v>
                  </c:pt>
                  <c:pt idx="6">
                    <c:v>cart-discount</c:v>
                  </c:pt>
                  <c:pt idx="7">
                    <c:v>cart-overwrite</c:v>
                  </c:pt>
                  <c:pt idx="8">
                    <c:v>cart-keyerror</c:v>
                  </c:pt>
                  <c:pt idx="9">
                    <c:v>payments-zero</c:v>
                  </c:pt>
                  <c:pt idx="10">
                    <c:v>payments-pending</c:v>
                  </c:pt>
                  <c:pt idx="11">
                    <c:v>payments-syntax</c:v>
                  </c:pt>
                  <c:pt idx="12">
                    <c:v>orders-port</c:v>
                  </c:pt>
                  <c:pt idx="13">
                    <c:v>orders-predisc</c:v>
                  </c:pt>
                  <c:pt idx="14">
                    <c:v>orders-typo</c:v>
                  </c:pt>
                </c:lvl>
              </c:multiLvlStrCache>
            </c:multiLvlStrRef>
          </c:cat>
          <c:val>
            <c:numRef>
              <c:f>Sheet1!$B$2:$B$16</c:f>
              <c:numCache>
                <c:formatCode>General</c:formatCode>
                <c:ptCount val="15"/>
                <c:pt idx="0">
                  <c:v>1199</c:v>
                </c:pt>
                <c:pt idx="1">
                  <c:v>1446</c:v>
                </c:pt>
                <c:pt idx="2">
                  <c:v>1399</c:v>
                </c:pt>
                <c:pt idx="3">
                  <c:v>1404</c:v>
                </c:pt>
                <c:pt idx="4">
                  <c:v>1352</c:v>
                </c:pt>
                <c:pt idx="5">
                  <c:v>1132</c:v>
                </c:pt>
                <c:pt idx="6">
                  <c:v>1743</c:v>
                </c:pt>
                <c:pt idx="7">
                  <c:v>1763</c:v>
                </c:pt>
                <c:pt idx="8">
                  <c:v>1523</c:v>
                </c:pt>
                <c:pt idx="9">
                  <c:v>1058</c:v>
                </c:pt>
                <c:pt idx="10">
                  <c:v>2046</c:v>
                </c:pt>
                <c:pt idx="11">
                  <c:v>862</c:v>
                </c:pt>
                <c:pt idx="12">
                  <c:v>1287</c:v>
                </c:pt>
                <c:pt idx="13">
                  <c:v>1326</c:v>
                </c:pt>
                <c:pt idx="14">
                  <c:v>1229</c:v>
                </c:pt>
              </c:numCache>
            </c:numRef>
          </c:val>
        </c:ser>
        <c:dLbls>
          <c:numFmt formatCode="#,##0" sourceLinked="0"/>
          <c:txPr>
            <a:bodyPr/>
            <a:lstStyle/>
            <a:p>
              <a:pPr>
                <a:defRPr b="0" i="0" strike="noStrike" sz="1000" u="none">
                  <a:solidFill>
                    <a:srgbClr val="1B20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030"/>
                </a:solidFill>
                <a:latin typeface="+mn-lt"/>
              </a:defRPr>
            </a:pPr>
            <a:endParaRPr lang="en-US"/>
          </a:p>
        </c:txPr>
        <c:crossAx val="2094734552"/>
        <c:crosses val="autoZero"/>
        <c:auto val="1"/>
        <c:lblAlgn val="ctr"/>
        <c:noMultiLvlLbl val="1"/>
      </c:catAx>
      <c:valAx>
        <c:axId val="2094734552"/>
        <c:scaling>
          <c:orientation val="minMax"/>
          <c:max val="24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030"/>
                </a:solidFill>
                <a:latin typeface="+mn-lt"/>
              </a:defRPr>
            </a:pPr>
            <a:r>
              <a:rPr sz="1400" b="0" i="0" u="none" strike="noStrike">
                <a:solidFill>
                  <a:srgbClr val="1B2030"/>
                </a:solidFill>
                <a:latin typeface="+mn-lt"/>
              </a:rPr>
              <a:t>Our Phase 1 ablation: cases (of 4) where the right context is retrieved</a:t>
            </a:r>
          </a:p>
        </c:rich>
      </c:tx>
      <c:layout/>
      <c:overlay val="0"/>
    </c:title>
    <c:autoTitleDeleted val="0"/>
    <c:plotArea>
      <c:layout/>
      <c:barChart>
        <c:barDir val="col"/>
        <c:grouping val="clustered"/>
        <c:varyColors val="0"/>
        <c:ser>
          <c:idx val="0"/>
          <c:order val="0"/>
          <c:tx>
            <c:strRef>
              <c:f>Sheet1!$B$1</c:f>
              <c:strCache>
                <c:ptCount val="1"/>
                <c:pt idx="0">
                  <c:v>BM25</c:v>
                </c:pt>
              </c:strCache>
            </c:strRef>
          </c:tx>
          <c:spPr>
            <a:solidFill>
              <a:srgbClr val="B9C0CF"/>
            </a:solidFill>
            <a:effectLst/>
          </c:spPr>
          <c:invertIfNegative val="0"/>
          <c:dLbls>
            <c:numFmt formatCode="#,##0" sourceLinked="0"/>
            <c:txPr>
              <a:bodyPr/>
              <a:lstStyle/>
              <a:p>
                <a:pPr>
                  <a:defRPr b="0" i="0" strike="noStrike" sz="1200" u="none">
                    <a:solidFill>
                      <a:srgbClr val="1B2030"/>
                    </a:solidFill>
                    <a:latin typeface="+mn-lt"/>
                  </a:defRPr>
                </a:pPr>
              </a:p>
            </c:txPr>
            <c:showLegendKey val="0"/>
            <c:showVal val="1"/>
            <c:showCatName val="0"/>
            <c:showSerName val="0"/>
            <c:showPercent val="0"/>
            <c:showBubbleSize val="0"/>
            <c:showLeaderLines val="0"/>
          </c:dLbls>
          <c:cat>
            <c:multiLvlStrRef>
              <c:f>Sheet1!$A$2:$A$4</c:f>
              <c:multiLvlStrCache>
                <c:ptCount val="3"/>
                <c:lvl>
                  <c:pt idx="0">
                    <c:v>k=1</c:v>
                  </c:pt>
                  <c:pt idx="1">
                    <c:v>k=3</c:v>
                  </c:pt>
                  <c:pt idx="2">
                    <c:v>k=6</c:v>
                  </c:pt>
                </c:lvl>
              </c:multiLvlStrCache>
            </c:multiLvlStrRef>
          </c:cat>
          <c:val>
            <c:numRef>
              <c:f>Sheet1!$B$2:$B$4</c:f>
              <c:numCache>
                <c:formatCode>General</c:formatCode>
                <c:ptCount val="3"/>
                <c:pt idx="0">
                  <c:v>1</c:v>
                </c:pt>
                <c:pt idx="1">
                  <c:v>3</c:v>
                </c:pt>
                <c:pt idx="2">
                  <c:v>4</c:v>
                </c:pt>
              </c:numCache>
            </c:numRef>
          </c:val>
        </c:ser>
        <c:ser>
          <c:idx val="1"/>
          <c:order val="1"/>
          <c:tx>
            <c:strRef>
              <c:f>Sheet1!$C$1</c:f>
              <c:strCache>
                <c:ptCount val="1"/>
                <c:pt idx="0">
                  <c:v>Bidirectional call graph</c:v>
                </c:pt>
              </c:strCache>
            </c:strRef>
          </c:tx>
          <c:spPr>
            <a:solidFill>
              <a:srgbClr val="14B8A6"/>
            </a:solidFill>
            <a:effectLst/>
          </c:spPr>
          <c:invertIfNegative val="0"/>
          <c:dLbls>
            <c:numFmt formatCode="#,##0" sourceLinked="0"/>
            <c:txPr>
              <a:bodyPr/>
              <a:lstStyle/>
              <a:p>
                <a:pPr>
                  <a:defRPr b="0" i="0" strike="noStrike" sz="1200" u="none">
                    <a:solidFill>
                      <a:srgbClr val="1B2030"/>
                    </a:solidFill>
                    <a:latin typeface="+mn-lt"/>
                  </a:defRPr>
                </a:pPr>
              </a:p>
            </c:txPr>
            <c:showLegendKey val="0"/>
            <c:showVal val="1"/>
            <c:showCatName val="0"/>
            <c:showSerName val="0"/>
            <c:showPercent val="0"/>
            <c:showBubbleSize val="0"/>
            <c:showLeaderLines val="0"/>
          </c:dLbls>
          <c:cat>
            <c:multiLvlStrRef>
              <c:f>Sheet1!$A$2:$A$4</c:f>
              <c:multiLvlStrCache>
                <c:ptCount val="3"/>
                <c:lvl>
                  <c:pt idx="0">
                    <c:v>k=1</c:v>
                  </c:pt>
                  <c:pt idx="1">
                    <c:v>k=3</c:v>
                  </c:pt>
                  <c:pt idx="2">
                    <c:v>k=6</c:v>
                  </c:pt>
                </c:lvl>
              </c:multiLvlStrCache>
            </c:multiLvlStrRef>
          </c:cat>
          <c:val>
            <c:numRef>
              <c:f>Sheet1!$C$2:$C$4</c:f>
              <c:numCache>
                <c:formatCode>General</c:formatCode>
                <c:ptCount val="3"/>
                <c:pt idx="0">
                  <c:v>4</c:v>
                </c:pt>
                <c:pt idx="1">
                  <c:v>4</c:v>
                </c:pt>
                <c:pt idx="2">
                  <c:v>4</c:v>
                </c:pt>
              </c:numCache>
            </c:numRef>
          </c:val>
        </c:ser>
        <c:dLbls>
          <c:numFmt formatCode="#,##0" sourceLinked="0"/>
          <c:txPr>
            <a:bodyPr/>
            <a:lstStyle/>
            <a:p>
              <a:pPr>
                <a:defRPr b="0" i="0" strike="noStrike" sz="1200" u="none">
                  <a:solidFill>
                    <a:srgbClr val="1B20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030"/>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0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was ReviewMind: an AI pull-request reviewer plus an experiment on whether retrieval helps. Phase 2 turns it into a proper application: a containerised shop made of microservices that can be broken and then repaired by AI from a control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to remember. 15 of 15 injected faults were detected and repaired by the AI in the final full run. Average cost was about 1,400 tokens per repair, so the free Groq tier covers roughly a hundred repairs per key per day. Median repair time was about 7.6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only to the gateway. The gateway routes /api/&lt;service&gt; to the five microservices. The control plane watches every service with black-box probes, and breaks or fixes a service by rewriting its main.py on a shared volume; each service runs uvicorn with reload, so the change takes effect without restarting the container. No Docker socket is mounted.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black-box probes every three seconds. Step two: if a service fails only because something it depends on is broken, it is shown as blocked, so the AI is pointed at the real root cause. Step three: the model sees only the failing probe, the recent logs, a service map and one small file. Step four: the patch must compile, redeploy and pass the probe within fourteen seconds; one retry with the new symptom. Step five: the next key or model; if everything fails, restore the known-good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tokens used per fault in the final full run. Everything came in between about 860 and 2,050 tokens; payments-pending was the hardest and needed a second attempt. Right: two honest findings. First, the AI special-cased the probe's example value, so we made the probe test several amounts and told the model to fix the general defect. Second, the wrong-port fault was misdiagnosed until we gave the model a service map. Key fallback was also verified by making the primary key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anchors. GenProg showed that tests can act as the oracle for automatic repair, which is exactly how our probes work. CodeReviewer is the classic diff-level review model, comparable to our diff-only arm. SWE-bench and SWE-agent show that resolving real issues needs repository-wide context and tools. Our reading is that most of this work targets code at rest, while few papers close the loop on a running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Robertson and Zaragoza's BM25 is the classic keyword ranking and is our baseline. Lewis et al. introduced retrieval-augmented generation. RepoCoder applies iterative retrieval to repository-level code completion and reports over ten percent improvement over an in-file baseline. Our Phase 1 ablation: with bidirectional call-graph retrieval the right context was found at k=1 in 4 of 4 cases, while BM25 needed k=6. This is a small test, so we claim better rank, not new reachability.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SRE book defines the practice we are automating. Chaos engineering from Netflix is the reason we inject faults on purpose. Ahmed et al. at ICSE 2023 studied large language models on more than forty thousand cloud incidents for root cause and mitigation. RCACopilot at EuroSys 2024 collects diagnostics and uses an LLM to predict the root-cause category, with accuracy up to 0.766 reported. In that literature the model recommends and a human acts. Our prototype acts, but only inside a narrow, sandboxed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streams: review, repair and AIOps. Each is missing something we combine in one small, open system. The Phase 1 numbers are from 14 seeded defects, with n=4 in the decisive cell, and no statistical significance is claimed. Read docs/LIMITATIONS.md before quoting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table. The commercial tools are production products with support, integrations and scale that a student prototype does not have. Datadog's Bits AI SRE already generates code-fix pull requests for code-related root causes, with some remediation in preview. Our differences are that ours is open and self-hostable, runs on a free tier, and ships with a published evaluation including failure analysis. Competitor entries summarise vendor docs and third-party reviews from October 2026; verify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anyone asks. Five toy services, fifteen hand-written faults, Python only, single-file fixes, no human approval step in the demo, and a small evaluation. The strengths are real but narrow: open, cheap, measured, and honest about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concrete, buildable next steps. The first one connects Phase 1 and Phase 2: instead of hot-patching, the repair opens a pull request and the Phase 1 reviewer comments on it, so a human approves. The second is the main weakness of our evaluation. The fourth addresses probe overfitting, which we met in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horizons. Now is what exists today. Next is three to six months. Later is up to a year. The long-term idea that ties everything together is retrieval-aware repair across services: use the Phase 1 call graph to pick which neighbouring service code to show the model, instead of only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piece of feedback to something concrete. 'Create a proper application': the containerised platform. 'Improve future scope': the roadmap slides. The group feedback about comparison with corporate tools: the literature survey and the comparison table. Live servers, monitoring and watchdog: the control plane probes every three seconds and shows dependency-aware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were checked against publisher or arXiv listings where possible. Vendor material is cited as documentation accessed in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51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554480"/>
            <a:ext cx="10515600" cy="109728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ReviewMind AIDevOps</a:t>
            </a:r>
            <a:endParaRPr lang="en-US" sz="5800" dirty="0"/>
          </a:p>
        </p:txBody>
      </p:sp>
      <p:sp>
        <p:nvSpPr>
          <p:cNvPr id="4" name="Text 1"/>
          <p:cNvSpPr txBox="1"/>
          <p:nvPr/>
        </p:nvSpPr>
        <p:spPr>
          <a:xfrm>
            <a:off x="822960" y="2743200"/>
            <a:ext cx="10058400" cy="640080"/>
          </a:xfrm>
          <a:prstGeom prst="rect">
            <a:avLst/>
          </a:prstGeom>
          <a:noFill/>
          <a:ln/>
        </p:spPr>
        <p:txBody>
          <a:bodyPr wrap="square" lIns="0" tIns="0" rIns="0" bIns="0" rtlCol="0" anchor="t"/>
          <a:lstStyle/>
          <a:p>
            <a:pPr indent="0" marL="0">
              <a:buNone/>
            </a:pPr>
            <a:r>
              <a:rPr lang="en-US" sz="2400" dirty="0">
                <a:solidFill>
                  <a:srgbClr val="B7C0D8"/>
                </a:solidFill>
                <a:latin typeface="Calibri" pitchFamily="34" charset="0"/>
                <a:ea typeface="Calibri" pitchFamily="34" charset="-122"/>
                <a:cs typeface="Calibri" pitchFamily="34" charset="-120"/>
              </a:rPr>
              <a:t>Phase 2: self-healing microservices, repaired by retrieval-aware AI</a:t>
            </a:r>
            <a:endParaRPr lang="en-US" sz="2400" dirty="0"/>
          </a:p>
        </p:txBody>
      </p:sp>
      <p:sp>
        <p:nvSpPr>
          <p:cNvPr id="5" name="Text 2"/>
          <p:cNvSpPr txBox="1"/>
          <p:nvPr/>
        </p:nvSpPr>
        <p:spPr>
          <a:xfrm>
            <a:off x="822960" y="3520440"/>
            <a:ext cx="10058400" cy="365760"/>
          </a:xfrm>
          <a:prstGeom prst="rect">
            <a:avLst/>
          </a:prstGeom>
          <a:noFill/>
          <a:ln/>
        </p:spPr>
        <p:txBody>
          <a:bodyPr wrap="square" lIns="0" tIns="0" rIns="0" bIns="0" rtlCol="0" anchor="t"/>
          <a:lstStyle/>
          <a:p>
            <a:pPr indent="0" marL="0">
              <a:buNone/>
            </a:pPr>
            <a:r>
              <a:rPr lang="en-US" sz="1600" dirty="0">
                <a:solidFill>
                  <a:srgbClr val="8A93AB"/>
                </a:solidFill>
                <a:latin typeface="Calibri" pitchFamily="34" charset="0"/>
                <a:ea typeface="Calibri" pitchFamily="34" charset="-122"/>
                <a:cs typeface="Calibri" pitchFamily="34" charset="-120"/>
              </a:rPr>
              <a:t>CSE 4011 · Intelligent Developer Tools and AI DevOps Workflows · October 2026</a:t>
            </a:r>
            <a:endParaRPr lang="en-US" sz="1600" dirty="0"/>
          </a:p>
        </p:txBody>
      </p:sp>
      <p:sp>
        <p:nvSpPr>
          <p:cNvPr id="6" name="Service pill"/>
          <p:cNvSpPr/>
          <p:nvPr/>
        </p:nvSpPr>
        <p:spPr>
          <a:xfrm>
            <a:off x="822960" y="5029200"/>
            <a:ext cx="1600200" cy="566928"/>
          </a:xfrm>
          <a:prstGeom prst="roundRect">
            <a:avLst>
              <a:gd name="adj" fmla="val 19355"/>
            </a:avLst>
          </a:prstGeom>
          <a:solidFill>
            <a:srgbClr val="1C2030"/>
          </a:solidFill>
          <a:ln w="12700">
            <a:solidFill>
              <a:srgbClr val="1C2030"/>
            </a:solidFill>
            <a:prstDash val="solid"/>
          </a:ln>
        </p:spPr>
      </p:sp>
      <p:sp>
        <p:nvSpPr>
          <p:cNvPr id="7" name="Shape 4"/>
          <p:cNvSpPr/>
          <p:nvPr/>
        </p:nvSpPr>
        <p:spPr>
          <a:xfrm>
            <a:off x="1005840" y="5230368"/>
            <a:ext cx="164592" cy="164592"/>
          </a:xfrm>
          <a:prstGeom prst="ellipse">
            <a:avLst/>
          </a:prstGeom>
          <a:solidFill>
            <a:srgbClr val="14B8A6"/>
          </a:solidFill>
          <a:ln w="12700">
            <a:solidFill>
              <a:srgbClr val="14B8A6"/>
            </a:solidFill>
            <a:prstDash val="solid"/>
          </a:ln>
        </p:spPr>
      </p:sp>
      <p:sp>
        <p:nvSpPr>
          <p:cNvPr id="8" name="Text 5"/>
          <p:cNvSpPr txBox="1"/>
          <p:nvPr/>
        </p:nvSpPr>
        <p:spPr>
          <a:xfrm>
            <a:off x="1280160" y="5029200"/>
            <a:ext cx="1097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gateway</a:t>
            </a:r>
            <a:endParaRPr lang="en-US" sz="1400" dirty="0"/>
          </a:p>
        </p:txBody>
      </p:sp>
      <p:sp>
        <p:nvSpPr>
          <p:cNvPr id="9" name="Service pill"/>
          <p:cNvSpPr/>
          <p:nvPr/>
        </p:nvSpPr>
        <p:spPr>
          <a:xfrm>
            <a:off x="2606040" y="5029200"/>
            <a:ext cx="1600200" cy="566928"/>
          </a:xfrm>
          <a:prstGeom prst="roundRect">
            <a:avLst>
              <a:gd name="adj" fmla="val 19355"/>
            </a:avLst>
          </a:prstGeom>
          <a:solidFill>
            <a:srgbClr val="1C2030"/>
          </a:solidFill>
          <a:ln w="12700">
            <a:solidFill>
              <a:srgbClr val="1C2030"/>
            </a:solidFill>
            <a:prstDash val="solid"/>
          </a:ln>
        </p:spPr>
      </p:sp>
      <p:sp>
        <p:nvSpPr>
          <p:cNvPr id="10" name="Shape 7"/>
          <p:cNvSpPr/>
          <p:nvPr/>
        </p:nvSpPr>
        <p:spPr>
          <a:xfrm>
            <a:off x="2788920" y="5230368"/>
            <a:ext cx="164592" cy="164592"/>
          </a:xfrm>
          <a:prstGeom prst="ellipse">
            <a:avLst/>
          </a:prstGeom>
          <a:solidFill>
            <a:srgbClr val="14B8A6"/>
          </a:solidFill>
          <a:ln w="12700">
            <a:solidFill>
              <a:srgbClr val="14B8A6"/>
            </a:solidFill>
            <a:prstDash val="solid"/>
          </a:ln>
        </p:spPr>
      </p:sp>
      <p:sp>
        <p:nvSpPr>
          <p:cNvPr id="11" name="Text 8"/>
          <p:cNvSpPr txBox="1"/>
          <p:nvPr/>
        </p:nvSpPr>
        <p:spPr>
          <a:xfrm>
            <a:off x="3063240" y="5029200"/>
            <a:ext cx="1097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catalog</a:t>
            </a:r>
            <a:endParaRPr lang="en-US" sz="1400" dirty="0"/>
          </a:p>
        </p:txBody>
      </p:sp>
      <p:sp>
        <p:nvSpPr>
          <p:cNvPr id="12" name="Service pill"/>
          <p:cNvSpPr/>
          <p:nvPr/>
        </p:nvSpPr>
        <p:spPr>
          <a:xfrm>
            <a:off x="4389120" y="5029200"/>
            <a:ext cx="1600200" cy="566928"/>
          </a:xfrm>
          <a:prstGeom prst="roundRect">
            <a:avLst>
              <a:gd name="adj" fmla="val 19355"/>
            </a:avLst>
          </a:prstGeom>
          <a:solidFill>
            <a:srgbClr val="1C2030"/>
          </a:solidFill>
          <a:ln w="12700">
            <a:solidFill>
              <a:srgbClr val="1C2030"/>
            </a:solidFill>
            <a:prstDash val="solid"/>
          </a:ln>
        </p:spPr>
      </p:sp>
      <p:sp>
        <p:nvSpPr>
          <p:cNvPr id="13" name="Shape 10"/>
          <p:cNvSpPr/>
          <p:nvPr/>
        </p:nvSpPr>
        <p:spPr>
          <a:xfrm>
            <a:off x="4572000" y="5230368"/>
            <a:ext cx="164592" cy="164592"/>
          </a:xfrm>
          <a:prstGeom prst="ellipse">
            <a:avLst/>
          </a:prstGeom>
          <a:solidFill>
            <a:srgbClr val="14B8A6"/>
          </a:solidFill>
          <a:ln w="12700">
            <a:solidFill>
              <a:srgbClr val="14B8A6"/>
            </a:solidFill>
            <a:prstDash val="solid"/>
          </a:ln>
        </p:spPr>
      </p:sp>
      <p:sp>
        <p:nvSpPr>
          <p:cNvPr id="14" name="Text 11"/>
          <p:cNvSpPr txBox="1"/>
          <p:nvPr/>
        </p:nvSpPr>
        <p:spPr>
          <a:xfrm>
            <a:off x="4846320" y="5029200"/>
            <a:ext cx="1097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inventory</a:t>
            </a:r>
            <a:endParaRPr lang="en-US" sz="1400" dirty="0"/>
          </a:p>
        </p:txBody>
      </p:sp>
      <p:sp>
        <p:nvSpPr>
          <p:cNvPr id="15" name="Service pill"/>
          <p:cNvSpPr/>
          <p:nvPr/>
        </p:nvSpPr>
        <p:spPr>
          <a:xfrm>
            <a:off x="6172200" y="5029200"/>
            <a:ext cx="1600200" cy="566928"/>
          </a:xfrm>
          <a:prstGeom prst="roundRect">
            <a:avLst>
              <a:gd name="adj" fmla="val 19355"/>
            </a:avLst>
          </a:prstGeom>
          <a:solidFill>
            <a:srgbClr val="1C2030"/>
          </a:solidFill>
          <a:ln w="12700">
            <a:solidFill>
              <a:srgbClr val="1C2030"/>
            </a:solidFill>
            <a:prstDash val="solid"/>
          </a:ln>
        </p:spPr>
      </p:sp>
      <p:sp>
        <p:nvSpPr>
          <p:cNvPr id="16" name="Shape 13"/>
          <p:cNvSpPr/>
          <p:nvPr/>
        </p:nvSpPr>
        <p:spPr>
          <a:xfrm>
            <a:off x="6355080" y="5230368"/>
            <a:ext cx="164592" cy="164592"/>
          </a:xfrm>
          <a:prstGeom prst="ellipse">
            <a:avLst/>
          </a:prstGeom>
          <a:solidFill>
            <a:srgbClr val="14B8A6"/>
          </a:solidFill>
          <a:ln w="12700">
            <a:solidFill>
              <a:srgbClr val="14B8A6"/>
            </a:solidFill>
            <a:prstDash val="solid"/>
          </a:ln>
        </p:spPr>
      </p:sp>
      <p:sp>
        <p:nvSpPr>
          <p:cNvPr id="17" name="Text 14"/>
          <p:cNvSpPr txBox="1"/>
          <p:nvPr/>
        </p:nvSpPr>
        <p:spPr>
          <a:xfrm>
            <a:off x="6629400" y="5029200"/>
            <a:ext cx="1097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cart</a:t>
            </a:r>
            <a:endParaRPr lang="en-US" sz="1400" dirty="0"/>
          </a:p>
        </p:txBody>
      </p:sp>
      <p:sp>
        <p:nvSpPr>
          <p:cNvPr id="18" name="Service pill"/>
          <p:cNvSpPr/>
          <p:nvPr/>
        </p:nvSpPr>
        <p:spPr>
          <a:xfrm>
            <a:off x="7955280" y="5029200"/>
            <a:ext cx="1600200" cy="566928"/>
          </a:xfrm>
          <a:prstGeom prst="roundRect">
            <a:avLst>
              <a:gd name="adj" fmla="val 19355"/>
            </a:avLst>
          </a:prstGeom>
          <a:solidFill>
            <a:srgbClr val="1C2030"/>
          </a:solidFill>
          <a:ln w="12700">
            <a:solidFill>
              <a:srgbClr val="1C2030"/>
            </a:solidFill>
            <a:prstDash val="solid"/>
          </a:ln>
        </p:spPr>
      </p:sp>
      <p:sp>
        <p:nvSpPr>
          <p:cNvPr id="19" name="Shape 16"/>
          <p:cNvSpPr/>
          <p:nvPr/>
        </p:nvSpPr>
        <p:spPr>
          <a:xfrm>
            <a:off x="8138160" y="5230368"/>
            <a:ext cx="164592" cy="164592"/>
          </a:xfrm>
          <a:prstGeom prst="ellipse">
            <a:avLst/>
          </a:prstGeom>
          <a:solidFill>
            <a:srgbClr val="EF4444"/>
          </a:solidFill>
          <a:ln w="12700">
            <a:solidFill>
              <a:srgbClr val="EF4444"/>
            </a:solidFill>
            <a:prstDash val="solid"/>
          </a:ln>
        </p:spPr>
      </p:sp>
      <p:sp>
        <p:nvSpPr>
          <p:cNvPr id="20" name="Text 17"/>
          <p:cNvSpPr txBox="1"/>
          <p:nvPr/>
        </p:nvSpPr>
        <p:spPr>
          <a:xfrm>
            <a:off x="8412480" y="5029200"/>
            <a:ext cx="1097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payments</a:t>
            </a:r>
            <a:endParaRPr lang="en-US" sz="1400" dirty="0"/>
          </a:p>
        </p:txBody>
      </p:sp>
      <p:sp>
        <p:nvSpPr>
          <p:cNvPr id="21" name="Service pill"/>
          <p:cNvSpPr/>
          <p:nvPr/>
        </p:nvSpPr>
        <p:spPr>
          <a:xfrm>
            <a:off x="9738360" y="5029200"/>
            <a:ext cx="1600200" cy="566928"/>
          </a:xfrm>
          <a:prstGeom prst="roundRect">
            <a:avLst>
              <a:gd name="adj" fmla="val 19355"/>
            </a:avLst>
          </a:prstGeom>
          <a:solidFill>
            <a:srgbClr val="1C2030"/>
          </a:solidFill>
          <a:ln w="12700">
            <a:solidFill>
              <a:srgbClr val="1C2030"/>
            </a:solidFill>
            <a:prstDash val="solid"/>
          </a:ln>
        </p:spPr>
      </p:sp>
      <p:sp>
        <p:nvSpPr>
          <p:cNvPr id="22" name="Shape 19"/>
          <p:cNvSpPr/>
          <p:nvPr/>
        </p:nvSpPr>
        <p:spPr>
          <a:xfrm>
            <a:off x="9921240" y="5230368"/>
            <a:ext cx="164592" cy="164592"/>
          </a:xfrm>
          <a:prstGeom prst="ellipse">
            <a:avLst/>
          </a:prstGeom>
          <a:solidFill>
            <a:srgbClr val="14B8A6"/>
          </a:solidFill>
          <a:ln w="12700">
            <a:solidFill>
              <a:srgbClr val="14B8A6"/>
            </a:solidFill>
            <a:prstDash val="solid"/>
          </a:ln>
        </p:spPr>
      </p:sp>
      <p:sp>
        <p:nvSpPr>
          <p:cNvPr id="23" name="Text 20"/>
          <p:cNvSpPr txBox="1"/>
          <p:nvPr/>
        </p:nvSpPr>
        <p:spPr>
          <a:xfrm>
            <a:off x="10195560" y="5029200"/>
            <a:ext cx="1097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orders</a:t>
            </a:r>
            <a:endParaRPr lang="en-US" sz="1400" dirty="0"/>
          </a:p>
        </p:txBody>
      </p:sp>
      <p:sp>
        <p:nvSpPr>
          <p:cNvPr id="24" name="Text 21"/>
          <p:cNvSpPr txBox="1"/>
          <p:nvPr/>
        </p:nvSpPr>
        <p:spPr>
          <a:xfrm>
            <a:off x="822960" y="5760720"/>
            <a:ext cx="8229600" cy="365760"/>
          </a:xfrm>
          <a:prstGeom prst="rect">
            <a:avLst/>
          </a:prstGeom>
          <a:noFill/>
          <a:ln/>
        </p:spPr>
        <p:txBody>
          <a:bodyPr wrap="square" lIns="0" tIns="0" rIns="0" bIns="0" rtlCol="0" anchor="t"/>
          <a:lstStyle/>
          <a:p>
            <a:pPr indent="0" marL="0">
              <a:buNone/>
            </a:pPr>
            <a:r>
              <a:rPr lang="en-US" sz="1400" i="1" dirty="0">
                <a:solidFill>
                  <a:srgbClr val="8A93AB"/>
                </a:solidFill>
                <a:latin typeface="Calibri" pitchFamily="34" charset="0"/>
                <a:ea typeface="Calibri" pitchFamily="34" charset="-122"/>
                <a:cs typeface="Calibri" pitchFamily="34" charset="-120"/>
              </a:rPr>
              <a:t>Six containers. One of them is broken. The AI is about to fix it.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Phase 2 at a glance</a:t>
            </a:r>
            <a:endParaRPr lang="en-US" sz="3200" dirty="0"/>
          </a:p>
        </p:txBody>
      </p:sp>
      <p:sp>
        <p:nvSpPr>
          <p:cNvPr id="4" name="Stat card"/>
          <p:cNvSpPr/>
          <p:nvPr/>
        </p:nvSpPr>
        <p:spPr>
          <a:xfrm>
            <a:off x="548640" y="1554480"/>
            <a:ext cx="3566160" cy="2377440"/>
          </a:xfrm>
          <a:prstGeom prst="roundRect">
            <a:avLst>
              <a:gd name="adj" fmla="val 4615"/>
            </a:avLst>
          </a:prstGeom>
          <a:solidFill>
            <a:srgbClr val="F2F4F8"/>
          </a:solidFill>
          <a:ln w="12700">
            <a:solidFill>
              <a:srgbClr val="F2F4F8"/>
            </a:solidFill>
            <a:prstDash val="solid"/>
          </a:ln>
        </p:spPr>
      </p:sp>
      <p:sp>
        <p:nvSpPr>
          <p:cNvPr id="5" name="Text 2"/>
          <p:cNvSpPr txBox="1"/>
          <p:nvPr/>
        </p:nvSpPr>
        <p:spPr>
          <a:xfrm>
            <a:off x="822960" y="1783080"/>
            <a:ext cx="3017520" cy="1097280"/>
          </a:xfrm>
          <a:prstGeom prst="rect">
            <a:avLst/>
          </a:prstGeom>
          <a:noFill/>
          <a:ln/>
        </p:spPr>
        <p:txBody>
          <a:bodyPr wrap="square" lIns="0" tIns="0" rIns="0" bIns="0" rtlCol="0" anchor="ctr"/>
          <a:lstStyle/>
          <a:p>
            <a:pPr indent="0" marL="0">
              <a:buNone/>
            </a:pPr>
            <a:r>
              <a:rPr lang="en-US" sz="5400" b="1" dirty="0">
                <a:solidFill>
                  <a:srgbClr val="14B8A6"/>
                </a:solidFill>
                <a:latin typeface="Cambria" pitchFamily="34" charset="0"/>
                <a:ea typeface="Cambria" pitchFamily="34" charset="-122"/>
                <a:cs typeface="Cambria" pitchFamily="34" charset="-120"/>
              </a:rPr>
              <a:t>15 / 15</a:t>
            </a:r>
            <a:endParaRPr lang="en-US" sz="5400" dirty="0"/>
          </a:p>
        </p:txBody>
      </p:sp>
      <p:sp>
        <p:nvSpPr>
          <p:cNvPr id="6" name="Text 3"/>
          <p:cNvSpPr txBox="1"/>
          <p:nvPr/>
        </p:nvSpPr>
        <p:spPr>
          <a:xfrm>
            <a:off x="822960" y="2926080"/>
            <a:ext cx="3017520" cy="868680"/>
          </a:xfrm>
          <a:prstGeom prst="rect">
            <a:avLst/>
          </a:prstGeom>
          <a:noFill/>
          <a:ln/>
        </p:spPr>
        <p:txBody>
          <a:bodyPr wrap="square" lIns="0" tIns="0" rIns="0" bIns="0" rtlCol="0" anchor="t"/>
          <a:lstStyle/>
          <a:p>
            <a:pPr indent="0" marL="0">
              <a:buNone/>
            </a:pPr>
            <a:r>
              <a:rPr lang="en-US" sz="1600" dirty="0">
                <a:solidFill>
                  <a:srgbClr val="1B2030"/>
                </a:solidFill>
                <a:latin typeface="Calibri" pitchFamily="34" charset="0"/>
                <a:ea typeface="Calibri" pitchFamily="34" charset="-122"/>
                <a:cs typeface="Calibri" pitchFamily="34" charset="-120"/>
              </a:rPr>
              <a:t>injected faults detected and repaired by AI</a:t>
            </a:r>
            <a:endParaRPr lang="en-US" sz="1600" dirty="0"/>
          </a:p>
        </p:txBody>
      </p:sp>
      <p:sp>
        <p:nvSpPr>
          <p:cNvPr id="7" name="Stat card"/>
          <p:cNvSpPr/>
          <p:nvPr/>
        </p:nvSpPr>
        <p:spPr>
          <a:xfrm>
            <a:off x="4297680" y="1554480"/>
            <a:ext cx="3566160" cy="2377440"/>
          </a:xfrm>
          <a:prstGeom prst="roundRect">
            <a:avLst>
              <a:gd name="adj" fmla="val 4615"/>
            </a:avLst>
          </a:prstGeom>
          <a:solidFill>
            <a:srgbClr val="F2F4F8"/>
          </a:solidFill>
          <a:ln w="12700">
            <a:solidFill>
              <a:srgbClr val="F2F4F8"/>
            </a:solidFill>
            <a:prstDash val="solid"/>
          </a:ln>
        </p:spPr>
      </p:sp>
      <p:sp>
        <p:nvSpPr>
          <p:cNvPr id="8" name="Text 5"/>
          <p:cNvSpPr txBox="1"/>
          <p:nvPr/>
        </p:nvSpPr>
        <p:spPr>
          <a:xfrm>
            <a:off x="4572000" y="1783080"/>
            <a:ext cx="3017520" cy="1097280"/>
          </a:xfrm>
          <a:prstGeom prst="rect">
            <a:avLst/>
          </a:prstGeom>
          <a:noFill/>
          <a:ln/>
        </p:spPr>
        <p:txBody>
          <a:bodyPr wrap="square" lIns="0" tIns="0" rIns="0" bIns="0" rtlCol="0" anchor="ctr"/>
          <a:lstStyle/>
          <a:p>
            <a:pPr indent="0" marL="0">
              <a:buNone/>
            </a:pPr>
            <a:r>
              <a:rPr lang="en-US" sz="5400" b="1" dirty="0">
                <a:solidFill>
                  <a:srgbClr val="F59E0B"/>
                </a:solidFill>
                <a:latin typeface="Cambria" pitchFamily="34" charset="0"/>
                <a:ea typeface="Cambria" pitchFamily="34" charset="-122"/>
                <a:cs typeface="Cambria" pitchFamily="34" charset="-120"/>
              </a:rPr>
              <a:t>~1.4k</a:t>
            </a:r>
            <a:endParaRPr lang="en-US" sz="5400" dirty="0"/>
          </a:p>
        </p:txBody>
      </p:sp>
      <p:sp>
        <p:nvSpPr>
          <p:cNvPr id="9" name="Text 6"/>
          <p:cNvSpPr txBox="1"/>
          <p:nvPr/>
        </p:nvSpPr>
        <p:spPr>
          <a:xfrm>
            <a:off x="4572000" y="2926080"/>
            <a:ext cx="3017520" cy="868680"/>
          </a:xfrm>
          <a:prstGeom prst="rect">
            <a:avLst/>
          </a:prstGeom>
          <a:noFill/>
          <a:ln/>
        </p:spPr>
        <p:txBody>
          <a:bodyPr wrap="square" lIns="0" tIns="0" rIns="0" bIns="0" rtlCol="0" anchor="t"/>
          <a:lstStyle/>
          <a:p>
            <a:pPr indent="0" marL="0">
              <a:buNone/>
            </a:pPr>
            <a:r>
              <a:rPr lang="en-US" sz="1600" dirty="0">
                <a:solidFill>
                  <a:srgbClr val="1B2030"/>
                </a:solidFill>
                <a:latin typeface="Calibri" pitchFamily="34" charset="0"/>
                <a:ea typeface="Calibri" pitchFamily="34" charset="-122"/>
                <a:cs typeface="Calibri" pitchFamily="34" charset="-120"/>
              </a:rPr>
              <a:t>tokens per repair (1,385 average, one small file each)</a:t>
            </a:r>
            <a:endParaRPr lang="en-US" sz="1600" dirty="0"/>
          </a:p>
        </p:txBody>
      </p:sp>
      <p:sp>
        <p:nvSpPr>
          <p:cNvPr id="10" name="Stat card"/>
          <p:cNvSpPr/>
          <p:nvPr/>
        </p:nvSpPr>
        <p:spPr>
          <a:xfrm>
            <a:off x="8046720" y="1554480"/>
            <a:ext cx="3566160" cy="2377440"/>
          </a:xfrm>
          <a:prstGeom prst="roundRect">
            <a:avLst>
              <a:gd name="adj" fmla="val 4615"/>
            </a:avLst>
          </a:prstGeom>
          <a:solidFill>
            <a:srgbClr val="F2F4F8"/>
          </a:solidFill>
          <a:ln w="12700">
            <a:solidFill>
              <a:srgbClr val="F2F4F8"/>
            </a:solidFill>
            <a:prstDash val="solid"/>
          </a:ln>
        </p:spPr>
      </p:sp>
      <p:sp>
        <p:nvSpPr>
          <p:cNvPr id="11" name="Text 8"/>
          <p:cNvSpPr txBox="1"/>
          <p:nvPr/>
        </p:nvSpPr>
        <p:spPr>
          <a:xfrm>
            <a:off x="8321040" y="1783080"/>
            <a:ext cx="3017520" cy="1097280"/>
          </a:xfrm>
          <a:prstGeom prst="rect">
            <a:avLst/>
          </a:prstGeom>
          <a:noFill/>
          <a:ln/>
        </p:spPr>
        <p:txBody>
          <a:bodyPr wrap="square" lIns="0" tIns="0" rIns="0" bIns="0" rtlCol="0" anchor="ctr"/>
          <a:lstStyle/>
          <a:p>
            <a:pPr indent="0" marL="0">
              <a:buNone/>
            </a:pPr>
            <a:r>
              <a:rPr lang="en-US" sz="5400" b="1" dirty="0">
                <a:solidFill>
                  <a:srgbClr val="6366F1"/>
                </a:solidFill>
                <a:latin typeface="Cambria" pitchFamily="34" charset="0"/>
                <a:ea typeface="Cambria" pitchFamily="34" charset="-122"/>
                <a:cs typeface="Cambria" pitchFamily="34" charset="-120"/>
              </a:rPr>
              <a:t>7.6 s</a:t>
            </a:r>
            <a:endParaRPr lang="en-US" sz="5400" dirty="0"/>
          </a:p>
        </p:txBody>
      </p:sp>
      <p:sp>
        <p:nvSpPr>
          <p:cNvPr id="12" name="Text 9"/>
          <p:cNvSpPr txBox="1"/>
          <p:nvPr/>
        </p:nvSpPr>
        <p:spPr>
          <a:xfrm>
            <a:off x="8321040" y="2926080"/>
            <a:ext cx="3017520" cy="868680"/>
          </a:xfrm>
          <a:prstGeom prst="rect">
            <a:avLst/>
          </a:prstGeom>
          <a:noFill/>
          <a:ln/>
        </p:spPr>
        <p:txBody>
          <a:bodyPr wrap="square" lIns="0" tIns="0" rIns="0" bIns="0" rtlCol="0" anchor="t"/>
          <a:lstStyle/>
          <a:p>
            <a:pPr indent="0" marL="0">
              <a:buNone/>
            </a:pPr>
            <a:r>
              <a:rPr lang="en-US" sz="1600" dirty="0">
                <a:solidFill>
                  <a:srgbClr val="1B2030"/>
                </a:solidFill>
                <a:latin typeface="Calibri" pitchFamily="34" charset="0"/>
                <a:ea typeface="Calibri" pitchFamily="34" charset="-122"/>
                <a:cs typeface="Calibri" pitchFamily="34" charset="-120"/>
              </a:rPr>
              <a:t>median time from click to healthy (range 5.2 to 20.4 s)</a:t>
            </a:r>
            <a:endParaRPr lang="en-US" sz="1600" dirty="0"/>
          </a:p>
        </p:txBody>
      </p:sp>
      <p:sp>
        <p:nvSpPr>
          <p:cNvPr id="13" name="Text 10"/>
          <p:cNvSpPr txBox="1"/>
          <p:nvPr/>
        </p:nvSpPr>
        <p:spPr>
          <a:xfrm>
            <a:off x="548640" y="4251960"/>
            <a:ext cx="5486400" cy="365760"/>
          </a:xfrm>
          <a:prstGeom prst="rect">
            <a:avLst/>
          </a:prstGeom>
          <a:noFill/>
          <a:ln/>
        </p:spPr>
        <p:txBody>
          <a:bodyPr wrap="square" lIns="0" tIns="0" rIns="0" bIns="0" rtlCol="0" anchor="t"/>
          <a:lstStyle/>
          <a:p>
            <a:pPr indent="0" marL="0">
              <a:buNone/>
            </a:pPr>
            <a:r>
              <a:rPr lang="en-US" sz="2000" b="1" dirty="0">
                <a:solidFill>
                  <a:srgbClr val="1B2030"/>
                </a:solidFill>
                <a:latin typeface="Calibri" pitchFamily="34" charset="0"/>
                <a:ea typeface="Calibri" pitchFamily="34" charset="-122"/>
                <a:cs typeface="Calibri" pitchFamily="34" charset="-120"/>
              </a:rPr>
              <a:t>What is new since Phase 1</a:t>
            </a:r>
            <a:endParaRPr lang="en-US" sz="2000" dirty="0"/>
          </a:p>
        </p:txBody>
      </p:sp>
      <p:sp>
        <p:nvSpPr>
          <p:cNvPr id="14" name="Shape 11"/>
          <p:cNvSpPr/>
          <p:nvPr/>
        </p:nvSpPr>
        <p:spPr>
          <a:xfrm>
            <a:off x="548640" y="4754880"/>
            <a:ext cx="457200" cy="457200"/>
          </a:xfrm>
          <a:prstGeom prst="ellipse">
            <a:avLst/>
          </a:prstGeom>
          <a:solidFill>
            <a:srgbClr val="14B8A6"/>
          </a:solidFill>
          <a:ln w="12700">
            <a:solidFill>
              <a:srgbClr val="14B8A6"/>
            </a:solidFill>
            <a:prstDash val="solid"/>
          </a:ln>
        </p:spPr>
      </p:sp>
      <p:sp>
        <p:nvSpPr>
          <p:cNvPr id="15" name="Text 12"/>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6" name="Text 13"/>
          <p:cNvSpPr txBox="1"/>
          <p:nvPr/>
        </p:nvSpPr>
        <p:spPr>
          <a:xfrm>
            <a:off x="1143000" y="4754880"/>
            <a:ext cx="2926080" cy="457200"/>
          </a:xfrm>
          <a:prstGeom prst="rect">
            <a:avLst/>
          </a:prstGeom>
          <a:noFill/>
          <a:ln/>
        </p:spPr>
        <p:txBody>
          <a:bodyPr wrap="square" lIns="0" tIns="0" rIns="0" bIns="0" rtlCol="0" anchor="ctr"/>
          <a:lstStyle/>
          <a:p>
            <a:pPr indent="0" marL="0">
              <a:buNone/>
            </a:pPr>
            <a:r>
              <a:rPr lang="en-US" sz="1600" b="1" dirty="0">
                <a:solidFill>
                  <a:srgbClr val="1B2030"/>
                </a:solidFill>
                <a:latin typeface="Calibri" pitchFamily="34" charset="0"/>
                <a:ea typeface="Calibri" pitchFamily="34" charset="-122"/>
                <a:cs typeface="Calibri" pitchFamily="34" charset="-120"/>
              </a:rPr>
              <a:t>Proper application</a:t>
            </a:r>
            <a:endParaRPr lang="en-US" sz="1600" dirty="0"/>
          </a:p>
        </p:txBody>
      </p:sp>
      <p:sp>
        <p:nvSpPr>
          <p:cNvPr id="17" name="Text 14"/>
          <p:cNvSpPr txBox="1"/>
          <p:nvPr/>
        </p:nvSpPr>
        <p:spPr>
          <a:xfrm>
            <a:off x="1143000" y="5257800"/>
            <a:ext cx="2926080" cy="91440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 shop storefront plus a separate control-plane dashboard, all in containers.</a:t>
            </a:r>
            <a:endParaRPr lang="en-US" sz="1400" dirty="0"/>
          </a:p>
        </p:txBody>
      </p:sp>
      <p:sp>
        <p:nvSpPr>
          <p:cNvPr id="18" name="Shape 15"/>
          <p:cNvSpPr/>
          <p:nvPr/>
        </p:nvSpPr>
        <p:spPr>
          <a:xfrm>
            <a:off x="4297680" y="4754880"/>
            <a:ext cx="457200" cy="457200"/>
          </a:xfrm>
          <a:prstGeom prst="ellipse">
            <a:avLst/>
          </a:prstGeom>
          <a:solidFill>
            <a:srgbClr val="14B8A6"/>
          </a:solidFill>
          <a:ln w="12700">
            <a:solidFill>
              <a:srgbClr val="14B8A6"/>
            </a:solidFill>
            <a:prstDash val="solid"/>
          </a:ln>
        </p:spPr>
      </p:sp>
      <p:sp>
        <p:nvSpPr>
          <p:cNvPr id="19" name="Text 16"/>
          <p:cNvSpPr txBox="1"/>
          <p:nvPr/>
        </p:nvSpPr>
        <p:spPr>
          <a:xfrm>
            <a:off x="429768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7"/>
          <p:cNvSpPr txBox="1"/>
          <p:nvPr/>
        </p:nvSpPr>
        <p:spPr>
          <a:xfrm>
            <a:off x="4892040" y="4754880"/>
            <a:ext cx="2926080" cy="457200"/>
          </a:xfrm>
          <a:prstGeom prst="rect">
            <a:avLst/>
          </a:prstGeom>
          <a:noFill/>
          <a:ln/>
        </p:spPr>
        <p:txBody>
          <a:bodyPr wrap="square" lIns="0" tIns="0" rIns="0" bIns="0" rtlCol="0" anchor="ctr"/>
          <a:lstStyle/>
          <a:p>
            <a:pPr indent="0" marL="0">
              <a:buNone/>
            </a:pPr>
            <a:r>
              <a:rPr lang="en-US" sz="1600" b="1" dirty="0">
                <a:solidFill>
                  <a:srgbClr val="1B2030"/>
                </a:solidFill>
                <a:latin typeface="Calibri" pitchFamily="34" charset="0"/>
                <a:ea typeface="Calibri" pitchFamily="34" charset="-122"/>
                <a:cs typeface="Calibri" pitchFamily="34" charset="-120"/>
              </a:rPr>
              <a:t>Break and fix on a click</a:t>
            </a:r>
            <a:endParaRPr lang="en-US" sz="1600" dirty="0"/>
          </a:p>
        </p:txBody>
      </p:sp>
      <p:sp>
        <p:nvSpPr>
          <p:cNvPr id="21" name="Text 18"/>
          <p:cNvSpPr txBox="1"/>
          <p:nvPr/>
        </p:nvSpPr>
        <p:spPr>
          <a:xfrm>
            <a:off x="4892040" y="5257800"/>
            <a:ext cx="2926080" cy="91440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15 injectable faults; AI repair with primary and fallback Groq keys.</a:t>
            </a:r>
            <a:endParaRPr lang="en-US" sz="1400" dirty="0"/>
          </a:p>
        </p:txBody>
      </p:sp>
      <p:sp>
        <p:nvSpPr>
          <p:cNvPr id="22" name="Shape 19"/>
          <p:cNvSpPr/>
          <p:nvPr/>
        </p:nvSpPr>
        <p:spPr>
          <a:xfrm>
            <a:off x="8046720" y="4754880"/>
            <a:ext cx="457200" cy="457200"/>
          </a:xfrm>
          <a:prstGeom prst="ellipse">
            <a:avLst/>
          </a:prstGeom>
          <a:solidFill>
            <a:srgbClr val="14B8A6"/>
          </a:solidFill>
          <a:ln w="12700">
            <a:solidFill>
              <a:srgbClr val="14B8A6"/>
            </a:solidFill>
            <a:prstDash val="solid"/>
          </a:ln>
        </p:spPr>
      </p:sp>
      <p:sp>
        <p:nvSpPr>
          <p:cNvPr id="23" name="Text 20"/>
          <p:cNvSpPr txBox="1"/>
          <p:nvPr/>
        </p:nvSpPr>
        <p:spPr>
          <a:xfrm>
            <a:off x="804672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1"/>
          <p:cNvSpPr txBox="1"/>
          <p:nvPr/>
        </p:nvSpPr>
        <p:spPr>
          <a:xfrm>
            <a:off x="8641080" y="4754880"/>
            <a:ext cx="2926080" cy="457200"/>
          </a:xfrm>
          <a:prstGeom prst="rect">
            <a:avLst/>
          </a:prstGeom>
          <a:noFill/>
          <a:ln/>
        </p:spPr>
        <p:txBody>
          <a:bodyPr wrap="square" lIns="0" tIns="0" rIns="0" bIns="0" rtlCol="0" anchor="ctr"/>
          <a:lstStyle/>
          <a:p>
            <a:pPr indent="0" marL="0">
              <a:buNone/>
            </a:pPr>
            <a:r>
              <a:rPr lang="en-US" sz="1600" b="1" dirty="0">
                <a:solidFill>
                  <a:srgbClr val="1B2030"/>
                </a:solidFill>
                <a:latin typeface="Calibri" pitchFamily="34" charset="0"/>
                <a:ea typeface="Calibri" pitchFamily="34" charset="-122"/>
                <a:cs typeface="Calibri" pitchFamily="34" charset="-120"/>
              </a:rPr>
              <a:t>Measured, not claimed</a:t>
            </a:r>
            <a:endParaRPr lang="en-US" sz="1600" dirty="0"/>
          </a:p>
        </p:txBody>
      </p:sp>
      <p:sp>
        <p:nvSpPr>
          <p:cNvPr id="25" name="Text 22"/>
          <p:cNvSpPr txBox="1"/>
          <p:nvPr/>
        </p:nvSpPr>
        <p:spPr>
          <a:xfrm>
            <a:off x="8641080" y="5257800"/>
            <a:ext cx="2926080" cy="91440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 saved test script runs every fault end to end and reports tokens and time.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Architecture: seven containers, one command</a:t>
            </a:r>
            <a:endParaRPr lang="en-US" sz="3200" dirty="0"/>
          </a:p>
        </p:txBody>
      </p:sp>
      <p:sp>
        <p:nvSpPr>
          <p:cNvPr id="4" name="Node"/>
          <p:cNvSpPr/>
          <p:nvPr/>
        </p:nvSpPr>
        <p:spPr>
          <a:xfrm>
            <a:off x="548640" y="2148840"/>
            <a:ext cx="1737360" cy="1005840"/>
          </a:xfrm>
          <a:prstGeom prst="roundRect">
            <a:avLst>
              <a:gd name="adj" fmla="val 10909"/>
            </a:avLst>
          </a:prstGeom>
          <a:solidFill>
            <a:srgbClr val="F2F4F8"/>
          </a:solidFill>
          <a:ln w="12700">
            <a:solidFill>
              <a:srgbClr val="F2F4F8"/>
            </a:solidFill>
            <a:prstDash val="solid"/>
          </a:ln>
        </p:spPr>
      </p:sp>
      <p:sp>
        <p:nvSpPr>
          <p:cNvPr id="5" name="Text 2"/>
          <p:cNvSpPr txBox="1"/>
          <p:nvPr/>
        </p:nvSpPr>
        <p:spPr>
          <a:xfrm>
            <a:off x="685800" y="2258568"/>
            <a:ext cx="146304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Browser</a:t>
            </a:r>
            <a:endParaRPr lang="en-US" sz="1600" dirty="0"/>
          </a:p>
        </p:txBody>
      </p:sp>
      <p:sp>
        <p:nvSpPr>
          <p:cNvPr id="6" name="Text 3"/>
          <p:cNvSpPr txBox="1"/>
          <p:nvPr/>
        </p:nvSpPr>
        <p:spPr>
          <a:xfrm>
            <a:off x="685800" y="2624328"/>
            <a:ext cx="146304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Storefront :8080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Control plane :9000</a:t>
            </a:r>
            <a:endParaRPr lang="en-US" sz="1200" dirty="0"/>
          </a:p>
        </p:txBody>
      </p:sp>
      <p:sp>
        <p:nvSpPr>
          <p:cNvPr id="7" name="Node"/>
          <p:cNvSpPr/>
          <p:nvPr/>
        </p:nvSpPr>
        <p:spPr>
          <a:xfrm>
            <a:off x="2926080" y="2148840"/>
            <a:ext cx="1828800" cy="1005840"/>
          </a:xfrm>
          <a:prstGeom prst="roundRect">
            <a:avLst>
              <a:gd name="adj" fmla="val 10909"/>
            </a:avLst>
          </a:prstGeom>
          <a:solidFill>
            <a:srgbClr val="1C2030"/>
          </a:solidFill>
          <a:ln w="12700">
            <a:solidFill>
              <a:srgbClr val="1C2030"/>
            </a:solidFill>
            <a:prstDash val="solid"/>
          </a:ln>
        </p:spPr>
      </p:sp>
      <p:sp>
        <p:nvSpPr>
          <p:cNvPr id="8" name="Text 5"/>
          <p:cNvSpPr txBox="1"/>
          <p:nvPr/>
        </p:nvSpPr>
        <p:spPr>
          <a:xfrm>
            <a:off x="3063240" y="2258568"/>
            <a:ext cx="155448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API gateway</a:t>
            </a:r>
            <a:endParaRPr lang="en-US" sz="1600" dirty="0"/>
          </a:p>
        </p:txBody>
      </p:sp>
      <p:sp>
        <p:nvSpPr>
          <p:cNvPr id="9" name="Text 6"/>
          <p:cNvSpPr txBox="1"/>
          <p:nvPr/>
        </p:nvSpPr>
        <p:spPr>
          <a:xfrm>
            <a:off x="3063240" y="2624328"/>
            <a:ext cx="1554480" cy="457200"/>
          </a:xfrm>
          <a:prstGeom prst="rect">
            <a:avLst/>
          </a:prstGeom>
          <a:noFill/>
          <a:ln/>
        </p:spPr>
        <p:txBody>
          <a:bodyPr wrap="square" lIns="0" tIns="0" rIns="0" bIns="0" rtlCol="0" anchor="t"/>
          <a:lstStyle/>
          <a:p>
            <a:pPr indent="0" marL="0">
              <a:buNone/>
            </a:pPr>
            <a:r>
              <a:rPr lang="en-US" sz="1200" dirty="0">
                <a:solidFill>
                  <a:srgbClr val="C9D1E6"/>
                </a:solidFill>
                <a:latin typeface="Calibri" pitchFamily="34" charset="0"/>
                <a:ea typeface="Calibri" pitchFamily="34" charset="-122"/>
                <a:cs typeface="Calibri" pitchFamily="34" charset="-120"/>
              </a:rPr>
              <a:t>serves UI, routes /api/*</a:t>
            </a:r>
            <a:endParaRPr lang="en-US" sz="1200" dirty="0"/>
          </a:p>
        </p:txBody>
      </p:sp>
      <p:sp>
        <p:nvSpPr>
          <p:cNvPr id="10" name="Node"/>
          <p:cNvSpPr/>
          <p:nvPr/>
        </p:nvSpPr>
        <p:spPr>
          <a:xfrm>
            <a:off x="5486400" y="1508760"/>
            <a:ext cx="1828800" cy="868680"/>
          </a:xfrm>
          <a:prstGeom prst="roundRect">
            <a:avLst>
              <a:gd name="adj" fmla="val 12632"/>
            </a:avLst>
          </a:prstGeom>
          <a:solidFill>
            <a:srgbClr val="F2F4F8"/>
          </a:solidFill>
          <a:ln w="12700">
            <a:solidFill>
              <a:srgbClr val="F2F4F8"/>
            </a:solidFill>
            <a:prstDash val="solid"/>
          </a:ln>
        </p:spPr>
      </p:sp>
      <p:sp>
        <p:nvSpPr>
          <p:cNvPr id="11" name="Text 8"/>
          <p:cNvSpPr txBox="1"/>
          <p:nvPr/>
        </p:nvSpPr>
        <p:spPr>
          <a:xfrm>
            <a:off x="5623560" y="1618488"/>
            <a:ext cx="155448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catalog :9101</a:t>
            </a:r>
            <a:endParaRPr lang="en-US" sz="1600" dirty="0"/>
          </a:p>
        </p:txBody>
      </p:sp>
      <p:sp>
        <p:nvSpPr>
          <p:cNvPr id="12" name="Text 9"/>
          <p:cNvSpPr txBox="1"/>
          <p:nvPr/>
        </p:nvSpPr>
        <p:spPr>
          <a:xfrm>
            <a:off x="5623560" y="1984248"/>
            <a:ext cx="15544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products, prices</a:t>
            </a:r>
            <a:endParaRPr lang="en-US" sz="1200" dirty="0"/>
          </a:p>
        </p:txBody>
      </p:sp>
      <p:sp>
        <p:nvSpPr>
          <p:cNvPr id="13" name="Node"/>
          <p:cNvSpPr/>
          <p:nvPr/>
        </p:nvSpPr>
        <p:spPr>
          <a:xfrm>
            <a:off x="7589520" y="1508760"/>
            <a:ext cx="1828800" cy="868680"/>
          </a:xfrm>
          <a:prstGeom prst="roundRect">
            <a:avLst>
              <a:gd name="adj" fmla="val 12632"/>
            </a:avLst>
          </a:prstGeom>
          <a:solidFill>
            <a:srgbClr val="F2F4F8"/>
          </a:solidFill>
          <a:ln w="12700">
            <a:solidFill>
              <a:srgbClr val="F2F4F8"/>
            </a:solidFill>
            <a:prstDash val="solid"/>
          </a:ln>
        </p:spPr>
      </p:sp>
      <p:sp>
        <p:nvSpPr>
          <p:cNvPr id="14" name="Text 11"/>
          <p:cNvSpPr txBox="1"/>
          <p:nvPr/>
        </p:nvSpPr>
        <p:spPr>
          <a:xfrm>
            <a:off x="7726680" y="1618488"/>
            <a:ext cx="155448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inventory :9102</a:t>
            </a:r>
            <a:endParaRPr lang="en-US" sz="1600" dirty="0"/>
          </a:p>
        </p:txBody>
      </p:sp>
      <p:sp>
        <p:nvSpPr>
          <p:cNvPr id="15" name="Text 12"/>
          <p:cNvSpPr txBox="1"/>
          <p:nvPr/>
        </p:nvSpPr>
        <p:spPr>
          <a:xfrm>
            <a:off x="7726680" y="1984248"/>
            <a:ext cx="15544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stock, reserve</a:t>
            </a:r>
            <a:endParaRPr lang="en-US" sz="1200" dirty="0"/>
          </a:p>
        </p:txBody>
      </p:sp>
      <p:sp>
        <p:nvSpPr>
          <p:cNvPr id="16" name="Node"/>
          <p:cNvSpPr/>
          <p:nvPr/>
        </p:nvSpPr>
        <p:spPr>
          <a:xfrm>
            <a:off x="9692640" y="1508760"/>
            <a:ext cx="1828800" cy="868680"/>
          </a:xfrm>
          <a:prstGeom prst="roundRect">
            <a:avLst>
              <a:gd name="adj" fmla="val 12632"/>
            </a:avLst>
          </a:prstGeom>
          <a:solidFill>
            <a:srgbClr val="F2F4F8"/>
          </a:solidFill>
          <a:ln w="12700">
            <a:solidFill>
              <a:srgbClr val="F2F4F8"/>
            </a:solidFill>
            <a:prstDash val="solid"/>
          </a:ln>
        </p:spPr>
      </p:sp>
      <p:sp>
        <p:nvSpPr>
          <p:cNvPr id="17" name="Text 14"/>
          <p:cNvSpPr txBox="1"/>
          <p:nvPr/>
        </p:nvSpPr>
        <p:spPr>
          <a:xfrm>
            <a:off x="9829800" y="1618488"/>
            <a:ext cx="155448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payments :9104</a:t>
            </a:r>
            <a:endParaRPr lang="en-US" sz="1600" dirty="0"/>
          </a:p>
        </p:txBody>
      </p:sp>
      <p:sp>
        <p:nvSpPr>
          <p:cNvPr id="18" name="Text 15"/>
          <p:cNvSpPr txBox="1"/>
          <p:nvPr/>
        </p:nvSpPr>
        <p:spPr>
          <a:xfrm>
            <a:off x="9829800" y="1984248"/>
            <a:ext cx="15544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approve, decline</a:t>
            </a:r>
            <a:endParaRPr lang="en-US" sz="1200" dirty="0"/>
          </a:p>
        </p:txBody>
      </p:sp>
      <p:sp>
        <p:nvSpPr>
          <p:cNvPr id="19" name="Node"/>
          <p:cNvSpPr/>
          <p:nvPr/>
        </p:nvSpPr>
        <p:spPr>
          <a:xfrm>
            <a:off x="5486400" y="2926080"/>
            <a:ext cx="1828800" cy="868680"/>
          </a:xfrm>
          <a:prstGeom prst="roundRect">
            <a:avLst>
              <a:gd name="adj" fmla="val 12632"/>
            </a:avLst>
          </a:prstGeom>
          <a:solidFill>
            <a:srgbClr val="F2F4F8"/>
          </a:solidFill>
          <a:ln w="12700">
            <a:solidFill>
              <a:srgbClr val="F2F4F8"/>
            </a:solidFill>
            <a:prstDash val="solid"/>
          </a:ln>
        </p:spPr>
      </p:sp>
      <p:sp>
        <p:nvSpPr>
          <p:cNvPr id="20" name="Text 17"/>
          <p:cNvSpPr txBox="1"/>
          <p:nvPr/>
        </p:nvSpPr>
        <p:spPr>
          <a:xfrm>
            <a:off x="5623560" y="3035808"/>
            <a:ext cx="155448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cart :9103</a:t>
            </a:r>
            <a:endParaRPr lang="en-US" sz="1600" dirty="0"/>
          </a:p>
        </p:txBody>
      </p:sp>
      <p:sp>
        <p:nvSpPr>
          <p:cNvPr id="21" name="Text 18"/>
          <p:cNvSpPr txBox="1"/>
          <p:nvPr/>
        </p:nvSpPr>
        <p:spPr>
          <a:xfrm>
            <a:off x="5623560" y="3401568"/>
            <a:ext cx="15544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pricing, 10% discount</a:t>
            </a:r>
            <a:endParaRPr lang="en-US" sz="1200" dirty="0"/>
          </a:p>
        </p:txBody>
      </p:sp>
      <p:sp>
        <p:nvSpPr>
          <p:cNvPr id="22" name="Node"/>
          <p:cNvSpPr/>
          <p:nvPr/>
        </p:nvSpPr>
        <p:spPr>
          <a:xfrm>
            <a:off x="7589520" y="2926080"/>
            <a:ext cx="1828800" cy="868680"/>
          </a:xfrm>
          <a:prstGeom prst="roundRect">
            <a:avLst>
              <a:gd name="adj" fmla="val 12632"/>
            </a:avLst>
          </a:prstGeom>
          <a:solidFill>
            <a:srgbClr val="F2F4F8"/>
          </a:solidFill>
          <a:ln w="12700">
            <a:solidFill>
              <a:srgbClr val="F2F4F8"/>
            </a:solidFill>
            <a:prstDash val="solid"/>
          </a:ln>
        </p:spPr>
      </p:sp>
      <p:sp>
        <p:nvSpPr>
          <p:cNvPr id="23" name="Text 20"/>
          <p:cNvSpPr txBox="1"/>
          <p:nvPr/>
        </p:nvSpPr>
        <p:spPr>
          <a:xfrm>
            <a:off x="7726680" y="3035808"/>
            <a:ext cx="155448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orders :9105</a:t>
            </a:r>
            <a:endParaRPr lang="en-US" sz="1600" dirty="0"/>
          </a:p>
        </p:txBody>
      </p:sp>
      <p:sp>
        <p:nvSpPr>
          <p:cNvPr id="24" name="Text 21"/>
          <p:cNvSpPr txBox="1"/>
          <p:nvPr/>
        </p:nvSpPr>
        <p:spPr>
          <a:xfrm>
            <a:off x="7726680" y="3401568"/>
            <a:ext cx="15544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checkout orchestration</a:t>
            </a:r>
            <a:endParaRPr lang="en-US" sz="1200" dirty="0"/>
          </a:p>
        </p:txBody>
      </p:sp>
      <p:sp>
        <p:nvSpPr>
          <p:cNvPr id="25" name="Shape 22"/>
          <p:cNvSpPr/>
          <p:nvPr/>
        </p:nvSpPr>
        <p:spPr>
          <a:xfrm>
            <a:off x="2286000" y="2651760"/>
            <a:ext cx="640080" cy="0"/>
          </a:xfrm>
          <a:prstGeom prst="line">
            <a:avLst/>
          </a:prstGeom>
          <a:noFill/>
          <a:ln w="22225">
            <a:solidFill>
              <a:srgbClr val="6B7280"/>
            </a:solidFill>
            <a:prstDash val="solid"/>
            <a:tailEnd type="triangle"/>
          </a:ln>
        </p:spPr>
      </p:sp>
      <p:sp>
        <p:nvSpPr>
          <p:cNvPr id="26" name="Shape 23"/>
          <p:cNvSpPr/>
          <p:nvPr/>
        </p:nvSpPr>
        <p:spPr>
          <a:xfrm flipV="1">
            <a:off x="4754880" y="1965960"/>
            <a:ext cx="731520" cy="502920"/>
          </a:xfrm>
          <a:prstGeom prst="line">
            <a:avLst/>
          </a:prstGeom>
          <a:noFill/>
          <a:ln w="22225">
            <a:solidFill>
              <a:srgbClr val="6B7280"/>
            </a:solidFill>
            <a:prstDash val="solid"/>
            <a:tailEnd type="triangle"/>
          </a:ln>
        </p:spPr>
      </p:sp>
      <p:sp>
        <p:nvSpPr>
          <p:cNvPr id="27" name="Shape 24"/>
          <p:cNvSpPr/>
          <p:nvPr/>
        </p:nvSpPr>
        <p:spPr>
          <a:xfrm>
            <a:off x="4754880" y="2834640"/>
            <a:ext cx="731520" cy="502920"/>
          </a:xfrm>
          <a:prstGeom prst="line">
            <a:avLst/>
          </a:prstGeom>
          <a:noFill/>
          <a:ln w="22225">
            <a:solidFill>
              <a:srgbClr val="6B7280"/>
            </a:solidFill>
            <a:prstDash val="solid"/>
            <a:tailEnd type="triangle"/>
          </a:ln>
        </p:spPr>
      </p:sp>
      <p:sp>
        <p:nvSpPr>
          <p:cNvPr id="28" name="Text 25"/>
          <p:cNvSpPr txBox="1"/>
          <p:nvPr/>
        </p:nvSpPr>
        <p:spPr>
          <a:xfrm>
            <a:off x="9692640" y="2926080"/>
            <a:ext cx="192024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cart calls catalog.  orders calls cart, inventory and payments.</a:t>
            </a:r>
            <a:endParaRPr lang="en-US" sz="1200" dirty="0"/>
          </a:p>
        </p:txBody>
      </p:sp>
      <p:sp>
        <p:nvSpPr>
          <p:cNvPr id="29" name="Node"/>
          <p:cNvSpPr/>
          <p:nvPr/>
        </p:nvSpPr>
        <p:spPr>
          <a:xfrm>
            <a:off x="2926080" y="4434840"/>
            <a:ext cx="4572000" cy="1234440"/>
          </a:xfrm>
          <a:prstGeom prst="roundRect">
            <a:avLst>
              <a:gd name="adj" fmla="val 8889"/>
            </a:avLst>
          </a:prstGeom>
          <a:solidFill>
            <a:srgbClr val="0F2E2B"/>
          </a:solidFill>
          <a:ln w="12700">
            <a:solidFill>
              <a:srgbClr val="0F2E2B"/>
            </a:solidFill>
            <a:prstDash val="solid"/>
          </a:ln>
        </p:spPr>
      </p:sp>
      <p:sp>
        <p:nvSpPr>
          <p:cNvPr id="30" name="Text 27"/>
          <p:cNvSpPr txBox="1"/>
          <p:nvPr/>
        </p:nvSpPr>
        <p:spPr>
          <a:xfrm>
            <a:off x="3063240" y="4544568"/>
            <a:ext cx="429768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Ops control plane :9000</a:t>
            </a:r>
            <a:endParaRPr lang="en-US" sz="1600" dirty="0"/>
          </a:p>
        </p:txBody>
      </p:sp>
      <p:sp>
        <p:nvSpPr>
          <p:cNvPr id="31" name="Text 28"/>
          <p:cNvSpPr txBox="1"/>
          <p:nvPr/>
        </p:nvSpPr>
        <p:spPr>
          <a:xfrm>
            <a:off x="3063240" y="4910328"/>
            <a:ext cx="4297680" cy="685800"/>
          </a:xfrm>
          <a:prstGeom prst="rect">
            <a:avLst/>
          </a:prstGeom>
          <a:noFill/>
          <a:ln/>
        </p:spPr>
        <p:txBody>
          <a:bodyPr wrap="square" lIns="0" tIns="0" rIns="0" bIns="0" rtlCol="0" anchor="t"/>
          <a:lstStyle/>
          <a:p>
            <a:pPr indent="0" marL="0">
              <a:buNone/>
            </a:pPr>
            <a:r>
              <a:rPr lang="en-US" sz="1200" dirty="0">
                <a:solidFill>
                  <a:srgbClr val="C9D1E6"/>
                </a:solidFill>
                <a:latin typeface="Calibri" pitchFamily="34" charset="0"/>
                <a:ea typeface="Calibri" pitchFamily="34" charset="-122"/>
                <a:cs typeface="Calibri" pitchFamily="34" charset="-120"/>
              </a:rPr>
              <a:t>probes every service · injects faults · calls Groq · redeploys the patched file</a:t>
            </a:r>
            <a:endParaRPr lang="en-US" sz="1200" dirty="0"/>
          </a:p>
        </p:txBody>
      </p:sp>
      <p:sp>
        <p:nvSpPr>
          <p:cNvPr id="32" name="Node"/>
          <p:cNvSpPr/>
          <p:nvPr/>
        </p:nvSpPr>
        <p:spPr>
          <a:xfrm>
            <a:off x="8869680" y="4434840"/>
            <a:ext cx="2743200" cy="1234440"/>
          </a:xfrm>
          <a:prstGeom prst="roundRect">
            <a:avLst>
              <a:gd name="adj" fmla="val 8889"/>
            </a:avLst>
          </a:prstGeom>
          <a:solidFill>
            <a:srgbClr val="2A1F0A"/>
          </a:solidFill>
          <a:ln w="12700">
            <a:solidFill>
              <a:srgbClr val="2A1F0A"/>
            </a:solidFill>
            <a:prstDash val="solid"/>
          </a:ln>
        </p:spPr>
      </p:sp>
      <p:sp>
        <p:nvSpPr>
          <p:cNvPr id="33" name="Text 30"/>
          <p:cNvSpPr txBox="1"/>
          <p:nvPr/>
        </p:nvSpPr>
        <p:spPr>
          <a:xfrm>
            <a:off x="9006840" y="4544568"/>
            <a:ext cx="246888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Groq API</a:t>
            </a:r>
            <a:endParaRPr lang="en-US" sz="1600" dirty="0"/>
          </a:p>
        </p:txBody>
      </p:sp>
      <p:sp>
        <p:nvSpPr>
          <p:cNvPr id="34" name="Text 31"/>
          <p:cNvSpPr txBox="1"/>
          <p:nvPr/>
        </p:nvSpPr>
        <p:spPr>
          <a:xfrm>
            <a:off x="9006840" y="4910328"/>
            <a:ext cx="2468880" cy="685800"/>
          </a:xfrm>
          <a:prstGeom prst="rect">
            <a:avLst/>
          </a:prstGeom>
          <a:noFill/>
          <a:ln/>
        </p:spPr>
        <p:txBody>
          <a:bodyPr wrap="square" lIns="0" tIns="0" rIns="0" bIns="0" rtlCol="0" anchor="t"/>
          <a:lstStyle/>
          <a:p>
            <a:pPr indent="0" marL="0">
              <a:buNone/>
            </a:pPr>
            <a:r>
              <a:rPr lang="en-US" sz="1200" dirty="0">
                <a:solidFill>
                  <a:srgbClr val="C9D1E6"/>
                </a:solidFill>
                <a:latin typeface="Calibri" pitchFamily="34" charset="0"/>
                <a:ea typeface="Calibri" pitchFamily="34" charset="-122"/>
                <a:cs typeface="Calibri" pitchFamily="34" charset="-120"/>
              </a:rPr>
              <a:t>primary key, then 2 fallbacks; 2 models per key</a:t>
            </a:r>
            <a:endParaRPr lang="en-US" sz="1200" dirty="0"/>
          </a:p>
        </p:txBody>
      </p:sp>
      <p:sp>
        <p:nvSpPr>
          <p:cNvPr id="35" name="Shape 32"/>
          <p:cNvSpPr/>
          <p:nvPr/>
        </p:nvSpPr>
        <p:spPr>
          <a:xfrm flipV="1">
            <a:off x="6126480" y="3840480"/>
            <a:ext cx="0" cy="594360"/>
          </a:xfrm>
          <a:prstGeom prst="line">
            <a:avLst/>
          </a:prstGeom>
          <a:noFill/>
          <a:ln w="22225">
            <a:solidFill>
              <a:srgbClr val="14B8A6"/>
            </a:solidFill>
            <a:prstDash val="dash"/>
            <a:tailEnd type="triangle"/>
          </a:ln>
        </p:spPr>
      </p:sp>
      <p:sp>
        <p:nvSpPr>
          <p:cNvPr id="36" name="Text 33"/>
          <p:cNvSpPr txBox="1"/>
          <p:nvPr/>
        </p:nvSpPr>
        <p:spPr>
          <a:xfrm>
            <a:off x="6263640" y="4023360"/>
            <a:ext cx="2011680" cy="274320"/>
          </a:xfrm>
          <a:prstGeom prst="rect">
            <a:avLst/>
          </a:prstGeom>
          <a:noFill/>
          <a:ln/>
        </p:spPr>
        <p:txBody>
          <a:bodyPr wrap="square" lIns="0" tIns="0" rIns="0" bIns="0" rtlCol="0" anchor="t"/>
          <a:lstStyle/>
          <a:p>
            <a:pPr indent="0" marL="0">
              <a:buNone/>
            </a:pPr>
            <a:r>
              <a:rPr lang="en-US" sz="1200" b="1" dirty="0">
                <a:solidFill>
                  <a:srgbClr val="14B8A6"/>
                </a:solidFill>
                <a:latin typeface="Calibri" pitchFamily="34" charset="0"/>
                <a:ea typeface="Calibri" pitchFamily="34" charset="-122"/>
                <a:cs typeface="Calibri" pitchFamily="34" charset="-120"/>
              </a:rPr>
              <a:t>probe · break · fix</a:t>
            </a:r>
            <a:endParaRPr lang="en-US" sz="1200" dirty="0"/>
          </a:p>
        </p:txBody>
      </p:sp>
      <p:sp>
        <p:nvSpPr>
          <p:cNvPr id="37" name="Shape 34"/>
          <p:cNvSpPr/>
          <p:nvPr/>
        </p:nvSpPr>
        <p:spPr>
          <a:xfrm>
            <a:off x="7498080" y="5029200"/>
            <a:ext cx="1371600" cy="0"/>
          </a:xfrm>
          <a:prstGeom prst="line">
            <a:avLst/>
          </a:prstGeom>
          <a:noFill/>
          <a:ln w="22225">
            <a:solidFill>
              <a:srgbClr val="F59E0B"/>
            </a:solidFill>
            <a:prstDash val="solid"/>
            <a:tailEnd type="triangle"/>
          </a:ln>
        </p:spPr>
      </p:sp>
      <p:sp>
        <p:nvSpPr>
          <p:cNvPr id="38" name="Text 35"/>
          <p:cNvSpPr txBox="1"/>
          <p:nvPr/>
        </p:nvSpPr>
        <p:spPr>
          <a:xfrm>
            <a:off x="548640" y="5989320"/>
            <a:ext cx="10515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Shared volume: a fix is just a rewritten main.py; uvicorn reloads it. No Docker socket is exposed. Optional: each incident opens a GitHub PR.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How one repair works</a:t>
            </a:r>
            <a:endParaRPr lang="en-US" sz="3200" dirty="0"/>
          </a:p>
        </p:txBody>
      </p:sp>
      <p:sp>
        <p:nvSpPr>
          <p:cNvPr id="4" name="Step card"/>
          <p:cNvSpPr/>
          <p:nvPr/>
        </p:nvSpPr>
        <p:spPr>
          <a:xfrm>
            <a:off x="548640" y="1645920"/>
            <a:ext cx="2057400" cy="3017520"/>
          </a:xfrm>
          <a:prstGeom prst="roundRect">
            <a:avLst>
              <a:gd name="adj" fmla="val 5333"/>
            </a:avLst>
          </a:prstGeom>
          <a:solidFill>
            <a:srgbClr val="F2F4F8"/>
          </a:solidFill>
          <a:ln w="12700">
            <a:solidFill>
              <a:srgbClr val="F2F4F8"/>
            </a:solidFill>
            <a:prstDash val="solid"/>
          </a:ln>
        </p:spPr>
      </p:sp>
      <p:sp>
        <p:nvSpPr>
          <p:cNvPr id="5" name="Shape 2"/>
          <p:cNvSpPr/>
          <p:nvPr/>
        </p:nvSpPr>
        <p:spPr>
          <a:xfrm>
            <a:off x="731520" y="1828800"/>
            <a:ext cx="457200" cy="457200"/>
          </a:xfrm>
          <a:prstGeom prst="ellipse">
            <a:avLst/>
          </a:prstGeom>
          <a:solidFill>
            <a:srgbClr val="14B8A6"/>
          </a:solidFill>
          <a:ln w="12700">
            <a:solidFill>
              <a:srgbClr val="14B8A6"/>
            </a:solidFill>
            <a:prstDash val="solid"/>
          </a:ln>
        </p:spPr>
      </p:sp>
      <p:sp>
        <p:nvSpPr>
          <p:cNvPr id="6" name="Text 3"/>
          <p:cNvSpPr txBox="1"/>
          <p:nvPr/>
        </p:nvSpPr>
        <p:spPr>
          <a:xfrm>
            <a:off x="73152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731520" y="2468880"/>
            <a:ext cx="1737360" cy="457200"/>
          </a:xfrm>
          <a:prstGeom prst="rect">
            <a:avLst/>
          </a:prstGeom>
          <a:noFill/>
          <a:ln/>
        </p:spPr>
        <p:txBody>
          <a:bodyPr wrap="square" lIns="0" tIns="0" rIns="0" bIns="0" rtlCol="0" anchor="t"/>
          <a:lstStyle/>
          <a:p>
            <a:pPr indent="0" marL="0">
              <a:buNone/>
            </a:pPr>
            <a:r>
              <a:rPr lang="en-US" sz="1800" b="1" dirty="0">
                <a:solidFill>
                  <a:srgbClr val="1B2030"/>
                </a:solidFill>
                <a:latin typeface="Calibri" pitchFamily="34" charset="0"/>
                <a:ea typeface="Calibri" pitchFamily="34" charset="-122"/>
                <a:cs typeface="Calibri" pitchFamily="34" charset="-120"/>
              </a:rPr>
              <a:t>Probe</a:t>
            </a:r>
            <a:endParaRPr lang="en-US" sz="1800" dirty="0"/>
          </a:p>
        </p:txBody>
      </p:sp>
      <p:sp>
        <p:nvSpPr>
          <p:cNvPr id="8" name="Text 5"/>
          <p:cNvSpPr txBox="1"/>
          <p:nvPr/>
        </p:nvSpPr>
        <p:spPr>
          <a:xfrm>
            <a:off x="731520" y="3017520"/>
            <a:ext cx="1737360" cy="1554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Black-box checks every 3 s say what was expected and what came back.</a:t>
            </a:r>
            <a:endParaRPr lang="en-US" sz="1400" dirty="0"/>
          </a:p>
        </p:txBody>
      </p:sp>
      <p:sp>
        <p:nvSpPr>
          <p:cNvPr id="9" name="Shape 6"/>
          <p:cNvSpPr/>
          <p:nvPr/>
        </p:nvSpPr>
        <p:spPr>
          <a:xfrm>
            <a:off x="2606040" y="3154680"/>
            <a:ext cx="182880" cy="0"/>
          </a:xfrm>
          <a:prstGeom prst="line">
            <a:avLst/>
          </a:prstGeom>
          <a:noFill/>
          <a:ln w="22225">
            <a:solidFill>
              <a:srgbClr val="6B7280"/>
            </a:solidFill>
            <a:prstDash val="solid"/>
            <a:tailEnd type="triangle"/>
          </a:ln>
        </p:spPr>
      </p:sp>
      <p:sp>
        <p:nvSpPr>
          <p:cNvPr id="10" name="Step card"/>
          <p:cNvSpPr/>
          <p:nvPr/>
        </p:nvSpPr>
        <p:spPr>
          <a:xfrm>
            <a:off x="2788920" y="1645920"/>
            <a:ext cx="2057400" cy="3017520"/>
          </a:xfrm>
          <a:prstGeom prst="roundRect">
            <a:avLst>
              <a:gd name="adj" fmla="val 5333"/>
            </a:avLst>
          </a:prstGeom>
          <a:solidFill>
            <a:srgbClr val="F2F4F8"/>
          </a:solidFill>
          <a:ln w="12700">
            <a:solidFill>
              <a:srgbClr val="F2F4F8"/>
            </a:solidFill>
            <a:prstDash val="solid"/>
          </a:ln>
        </p:spPr>
      </p:sp>
      <p:sp>
        <p:nvSpPr>
          <p:cNvPr id="11" name="Shape 8"/>
          <p:cNvSpPr/>
          <p:nvPr/>
        </p:nvSpPr>
        <p:spPr>
          <a:xfrm>
            <a:off x="2971800" y="1828800"/>
            <a:ext cx="457200" cy="457200"/>
          </a:xfrm>
          <a:prstGeom prst="ellipse">
            <a:avLst/>
          </a:prstGeom>
          <a:solidFill>
            <a:srgbClr val="14B8A6"/>
          </a:solidFill>
          <a:ln w="12700">
            <a:solidFill>
              <a:srgbClr val="14B8A6"/>
            </a:solidFill>
            <a:prstDash val="solid"/>
          </a:ln>
        </p:spPr>
      </p:sp>
      <p:sp>
        <p:nvSpPr>
          <p:cNvPr id="12" name="Text 9"/>
          <p:cNvSpPr txBox="1"/>
          <p:nvPr/>
        </p:nvSpPr>
        <p:spPr>
          <a:xfrm>
            <a:off x="297180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2971800" y="2468880"/>
            <a:ext cx="1737360" cy="457200"/>
          </a:xfrm>
          <a:prstGeom prst="rect">
            <a:avLst/>
          </a:prstGeom>
          <a:noFill/>
          <a:ln/>
        </p:spPr>
        <p:txBody>
          <a:bodyPr wrap="square" lIns="0" tIns="0" rIns="0" bIns="0" rtlCol="0" anchor="t"/>
          <a:lstStyle/>
          <a:p>
            <a:pPr indent="0" marL="0">
              <a:buNone/>
            </a:pPr>
            <a:r>
              <a:rPr lang="en-US" sz="1800" b="1" dirty="0">
                <a:solidFill>
                  <a:srgbClr val="1B2030"/>
                </a:solidFill>
                <a:latin typeface="Calibri" pitchFamily="34" charset="0"/>
                <a:ea typeface="Calibri" pitchFamily="34" charset="-122"/>
                <a:cs typeface="Calibri" pitchFamily="34" charset="-120"/>
              </a:rPr>
              <a:t>Isolate</a:t>
            </a:r>
            <a:endParaRPr lang="en-US" sz="1800" dirty="0"/>
          </a:p>
        </p:txBody>
      </p:sp>
      <p:sp>
        <p:nvSpPr>
          <p:cNvPr id="14" name="Text 11"/>
          <p:cNvSpPr txBox="1"/>
          <p:nvPr/>
        </p:nvSpPr>
        <p:spPr>
          <a:xfrm>
            <a:off x="2971800" y="3017520"/>
            <a:ext cx="1737360" cy="1554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 failure caused by a broken dependency shows as blocked, not broken.</a:t>
            </a:r>
            <a:endParaRPr lang="en-US" sz="1400" dirty="0"/>
          </a:p>
        </p:txBody>
      </p:sp>
      <p:sp>
        <p:nvSpPr>
          <p:cNvPr id="15" name="Shape 12"/>
          <p:cNvSpPr/>
          <p:nvPr/>
        </p:nvSpPr>
        <p:spPr>
          <a:xfrm>
            <a:off x="4846320" y="3154680"/>
            <a:ext cx="182880" cy="0"/>
          </a:xfrm>
          <a:prstGeom prst="line">
            <a:avLst/>
          </a:prstGeom>
          <a:noFill/>
          <a:ln w="22225">
            <a:solidFill>
              <a:srgbClr val="6B7280"/>
            </a:solidFill>
            <a:prstDash val="solid"/>
            <a:tailEnd type="triangle"/>
          </a:ln>
        </p:spPr>
      </p:sp>
      <p:sp>
        <p:nvSpPr>
          <p:cNvPr id="16" name="Step card"/>
          <p:cNvSpPr/>
          <p:nvPr/>
        </p:nvSpPr>
        <p:spPr>
          <a:xfrm>
            <a:off x="5029200" y="1645920"/>
            <a:ext cx="2057400" cy="3017520"/>
          </a:xfrm>
          <a:prstGeom prst="roundRect">
            <a:avLst>
              <a:gd name="adj" fmla="val 5333"/>
            </a:avLst>
          </a:prstGeom>
          <a:solidFill>
            <a:srgbClr val="F2F4F8"/>
          </a:solidFill>
          <a:ln w="12700">
            <a:solidFill>
              <a:srgbClr val="F2F4F8"/>
            </a:solidFill>
            <a:prstDash val="solid"/>
          </a:ln>
        </p:spPr>
      </p:sp>
      <p:sp>
        <p:nvSpPr>
          <p:cNvPr id="17" name="Shape 14"/>
          <p:cNvSpPr/>
          <p:nvPr/>
        </p:nvSpPr>
        <p:spPr>
          <a:xfrm>
            <a:off x="5212080" y="1828800"/>
            <a:ext cx="457200" cy="457200"/>
          </a:xfrm>
          <a:prstGeom prst="ellipse">
            <a:avLst/>
          </a:prstGeom>
          <a:solidFill>
            <a:srgbClr val="14B8A6"/>
          </a:solidFill>
          <a:ln w="12700">
            <a:solidFill>
              <a:srgbClr val="14B8A6"/>
            </a:solidFill>
            <a:prstDash val="solid"/>
          </a:ln>
        </p:spPr>
      </p:sp>
      <p:sp>
        <p:nvSpPr>
          <p:cNvPr id="18" name="Text 15"/>
          <p:cNvSpPr txBox="1"/>
          <p:nvPr/>
        </p:nvSpPr>
        <p:spPr>
          <a:xfrm>
            <a:off x="521208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5212080" y="2468880"/>
            <a:ext cx="1737360" cy="457200"/>
          </a:xfrm>
          <a:prstGeom prst="rect">
            <a:avLst/>
          </a:prstGeom>
          <a:noFill/>
          <a:ln/>
        </p:spPr>
        <p:txBody>
          <a:bodyPr wrap="square" lIns="0" tIns="0" rIns="0" bIns="0" rtlCol="0" anchor="t"/>
          <a:lstStyle/>
          <a:p>
            <a:pPr indent="0" marL="0">
              <a:buNone/>
            </a:pPr>
            <a:r>
              <a:rPr lang="en-US" sz="1800" b="1" dirty="0">
                <a:solidFill>
                  <a:srgbClr val="1B2030"/>
                </a:solidFill>
                <a:latin typeface="Calibri" pitchFamily="34" charset="0"/>
                <a:ea typeface="Calibri" pitchFamily="34" charset="-122"/>
                <a:cs typeface="Calibri" pitchFamily="34" charset="-120"/>
              </a:rPr>
              <a:t>Diagnose</a:t>
            </a:r>
            <a:endParaRPr lang="en-US" sz="1800" dirty="0"/>
          </a:p>
        </p:txBody>
      </p:sp>
      <p:sp>
        <p:nvSpPr>
          <p:cNvPr id="20" name="Text 17"/>
          <p:cNvSpPr txBox="1"/>
          <p:nvPr/>
        </p:nvSpPr>
        <p:spPr>
          <a:xfrm>
            <a:off x="5212080" y="3017520"/>
            <a:ext cx="1737360" cy="1554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Groq gets the failing probe, logs, service map and one ~40-line file.</a:t>
            </a:r>
            <a:endParaRPr lang="en-US" sz="1400" dirty="0"/>
          </a:p>
        </p:txBody>
      </p:sp>
      <p:sp>
        <p:nvSpPr>
          <p:cNvPr id="21" name="Shape 18"/>
          <p:cNvSpPr/>
          <p:nvPr/>
        </p:nvSpPr>
        <p:spPr>
          <a:xfrm>
            <a:off x="7086600" y="3154680"/>
            <a:ext cx="182880" cy="0"/>
          </a:xfrm>
          <a:prstGeom prst="line">
            <a:avLst/>
          </a:prstGeom>
          <a:noFill/>
          <a:ln w="22225">
            <a:solidFill>
              <a:srgbClr val="6B7280"/>
            </a:solidFill>
            <a:prstDash val="solid"/>
            <a:tailEnd type="triangle"/>
          </a:ln>
        </p:spPr>
      </p:sp>
      <p:sp>
        <p:nvSpPr>
          <p:cNvPr id="22" name="Step card"/>
          <p:cNvSpPr/>
          <p:nvPr/>
        </p:nvSpPr>
        <p:spPr>
          <a:xfrm>
            <a:off x="7269480" y="1645920"/>
            <a:ext cx="2057400" cy="3017520"/>
          </a:xfrm>
          <a:prstGeom prst="roundRect">
            <a:avLst>
              <a:gd name="adj" fmla="val 5333"/>
            </a:avLst>
          </a:prstGeom>
          <a:solidFill>
            <a:srgbClr val="F2F4F8"/>
          </a:solidFill>
          <a:ln w="12700">
            <a:solidFill>
              <a:srgbClr val="F2F4F8"/>
            </a:solidFill>
            <a:prstDash val="solid"/>
          </a:ln>
        </p:spPr>
      </p:sp>
      <p:sp>
        <p:nvSpPr>
          <p:cNvPr id="23" name="Shape 20"/>
          <p:cNvSpPr/>
          <p:nvPr/>
        </p:nvSpPr>
        <p:spPr>
          <a:xfrm>
            <a:off x="7452360" y="1828800"/>
            <a:ext cx="457200" cy="457200"/>
          </a:xfrm>
          <a:prstGeom prst="ellipse">
            <a:avLst/>
          </a:prstGeom>
          <a:solidFill>
            <a:srgbClr val="14B8A6"/>
          </a:solidFill>
          <a:ln w="12700">
            <a:solidFill>
              <a:srgbClr val="14B8A6"/>
            </a:solidFill>
            <a:prstDash val="solid"/>
          </a:ln>
        </p:spPr>
      </p:sp>
      <p:sp>
        <p:nvSpPr>
          <p:cNvPr id="24" name="Text 21"/>
          <p:cNvSpPr txBox="1"/>
          <p:nvPr/>
        </p:nvSpPr>
        <p:spPr>
          <a:xfrm>
            <a:off x="745236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452360" y="2468880"/>
            <a:ext cx="1737360" cy="457200"/>
          </a:xfrm>
          <a:prstGeom prst="rect">
            <a:avLst/>
          </a:prstGeom>
          <a:noFill/>
          <a:ln/>
        </p:spPr>
        <p:txBody>
          <a:bodyPr wrap="square" lIns="0" tIns="0" rIns="0" bIns="0" rtlCol="0" anchor="t"/>
          <a:lstStyle/>
          <a:p>
            <a:pPr indent="0" marL="0">
              <a:buNone/>
            </a:pPr>
            <a:r>
              <a:rPr lang="en-US" sz="1800" b="1" dirty="0">
                <a:solidFill>
                  <a:srgbClr val="1B2030"/>
                </a:solidFill>
                <a:latin typeface="Calibri" pitchFamily="34" charset="0"/>
                <a:ea typeface="Calibri" pitchFamily="34" charset="-122"/>
                <a:cs typeface="Calibri" pitchFamily="34" charset="-120"/>
              </a:rPr>
              <a:t>Patch and verify</a:t>
            </a:r>
            <a:endParaRPr lang="en-US" sz="1800" dirty="0"/>
          </a:p>
        </p:txBody>
      </p:sp>
      <p:sp>
        <p:nvSpPr>
          <p:cNvPr id="26" name="Text 23"/>
          <p:cNvSpPr txBox="1"/>
          <p:nvPr/>
        </p:nvSpPr>
        <p:spPr>
          <a:xfrm>
            <a:off x="7452360" y="3017520"/>
            <a:ext cx="1737360" cy="1554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The fix must compile, redeploy and pass the probe within 14 s. One retry.</a:t>
            </a:r>
            <a:endParaRPr lang="en-US" sz="1400" dirty="0"/>
          </a:p>
        </p:txBody>
      </p:sp>
      <p:sp>
        <p:nvSpPr>
          <p:cNvPr id="27" name="Shape 24"/>
          <p:cNvSpPr/>
          <p:nvPr/>
        </p:nvSpPr>
        <p:spPr>
          <a:xfrm>
            <a:off x="9326880" y="3154680"/>
            <a:ext cx="182880" cy="0"/>
          </a:xfrm>
          <a:prstGeom prst="line">
            <a:avLst/>
          </a:prstGeom>
          <a:noFill/>
          <a:ln w="22225">
            <a:solidFill>
              <a:srgbClr val="6B7280"/>
            </a:solidFill>
            <a:prstDash val="solid"/>
            <a:tailEnd type="triangle"/>
          </a:ln>
        </p:spPr>
      </p:sp>
      <p:sp>
        <p:nvSpPr>
          <p:cNvPr id="28" name="Step card"/>
          <p:cNvSpPr/>
          <p:nvPr/>
        </p:nvSpPr>
        <p:spPr>
          <a:xfrm>
            <a:off x="9509760" y="1645920"/>
            <a:ext cx="2057400" cy="3017520"/>
          </a:xfrm>
          <a:prstGeom prst="roundRect">
            <a:avLst>
              <a:gd name="adj" fmla="val 5333"/>
            </a:avLst>
          </a:prstGeom>
          <a:solidFill>
            <a:srgbClr val="F2F4F8"/>
          </a:solidFill>
          <a:ln w="12700">
            <a:solidFill>
              <a:srgbClr val="F2F4F8"/>
            </a:solidFill>
            <a:prstDash val="solid"/>
          </a:ln>
        </p:spPr>
      </p:sp>
      <p:sp>
        <p:nvSpPr>
          <p:cNvPr id="29" name="Shape 26"/>
          <p:cNvSpPr/>
          <p:nvPr/>
        </p:nvSpPr>
        <p:spPr>
          <a:xfrm>
            <a:off x="9692640" y="1828800"/>
            <a:ext cx="457200" cy="457200"/>
          </a:xfrm>
          <a:prstGeom prst="ellipse">
            <a:avLst/>
          </a:prstGeom>
          <a:solidFill>
            <a:srgbClr val="F59E0B"/>
          </a:solidFill>
          <a:ln w="12700">
            <a:solidFill>
              <a:srgbClr val="F59E0B"/>
            </a:solidFill>
            <a:prstDash val="solid"/>
          </a:ln>
        </p:spPr>
      </p:sp>
      <p:sp>
        <p:nvSpPr>
          <p:cNvPr id="30" name="Text 27"/>
          <p:cNvSpPr txBox="1"/>
          <p:nvPr/>
        </p:nvSpPr>
        <p:spPr>
          <a:xfrm>
            <a:off x="96926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8"/>
          <p:cNvSpPr txBox="1"/>
          <p:nvPr/>
        </p:nvSpPr>
        <p:spPr>
          <a:xfrm>
            <a:off x="9692640" y="2468880"/>
            <a:ext cx="1737360" cy="457200"/>
          </a:xfrm>
          <a:prstGeom prst="rect">
            <a:avLst/>
          </a:prstGeom>
          <a:noFill/>
          <a:ln/>
        </p:spPr>
        <p:txBody>
          <a:bodyPr wrap="square" lIns="0" tIns="0" rIns="0" bIns="0" rtlCol="0" anchor="t"/>
          <a:lstStyle/>
          <a:p>
            <a:pPr indent="0" marL="0">
              <a:buNone/>
            </a:pPr>
            <a:r>
              <a:rPr lang="en-US" sz="1800" b="1" dirty="0">
                <a:solidFill>
                  <a:srgbClr val="1B2030"/>
                </a:solidFill>
                <a:latin typeface="Calibri" pitchFamily="34" charset="0"/>
                <a:ea typeface="Calibri" pitchFamily="34" charset="-122"/>
                <a:cs typeface="Calibri" pitchFamily="34" charset="-120"/>
              </a:rPr>
              <a:t>Fall back</a:t>
            </a:r>
            <a:endParaRPr lang="en-US" sz="1800" dirty="0"/>
          </a:p>
        </p:txBody>
      </p:sp>
      <p:sp>
        <p:nvSpPr>
          <p:cNvPr id="32" name="Text 29"/>
          <p:cNvSpPr txBox="1"/>
          <p:nvPr/>
        </p:nvSpPr>
        <p:spPr>
          <a:xfrm>
            <a:off x="9692640" y="3017520"/>
            <a:ext cx="1737360" cy="1554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Next key or model; if all fail, restore the known-good file.</a:t>
            </a:r>
            <a:endParaRPr lang="en-US" sz="1400" dirty="0"/>
          </a:p>
        </p:txBody>
      </p:sp>
      <p:sp>
        <p:nvSpPr>
          <p:cNvPr id="33" name="Callout"/>
          <p:cNvSpPr/>
          <p:nvPr/>
        </p:nvSpPr>
        <p:spPr>
          <a:xfrm>
            <a:off x="548640" y="4983480"/>
            <a:ext cx="11064240" cy="1097280"/>
          </a:xfrm>
          <a:prstGeom prst="roundRect">
            <a:avLst>
              <a:gd name="adj" fmla="val 10000"/>
            </a:avLst>
          </a:prstGeom>
          <a:solidFill>
            <a:srgbClr val="0F2E2B"/>
          </a:solidFill>
          <a:ln w="12700">
            <a:solidFill>
              <a:srgbClr val="0F2E2B"/>
            </a:solidFill>
            <a:prstDash val="solid"/>
          </a:ln>
        </p:spPr>
      </p:sp>
      <p:sp>
        <p:nvSpPr>
          <p:cNvPr id="34" name="Text 31"/>
          <p:cNvSpPr txBox="1"/>
          <p:nvPr/>
        </p:nvSpPr>
        <p:spPr>
          <a:xfrm>
            <a:off x="822960" y="5074920"/>
            <a:ext cx="2743200" cy="365760"/>
          </a:xfrm>
          <a:prstGeom prst="rect">
            <a:avLst/>
          </a:prstGeom>
          <a:noFill/>
          <a:ln/>
        </p:spPr>
        <p:txBody>
          <a:bodyPr wrap="square" lIns="0" tIns="0" rIns="0" bIns="0" rtlCol="0" anchor="t"/>
          <a:lstStyle/>
          <a:p>
            <a:pPr indent="0" marL="0">
              <a:buNone/>
            </a:pPr>
            <a:r>
              <a:rPr lang="en-US" sz="1600" b="1" dirty="0">
                <a:solidFill>
                  <a:srgbClr val="14B8A6"/>
                </a:solidFill>
                <a:latin typeface="Calibri" pitchFamily="34" charset="0"/>
                <a:ea typeface="Calibri" pitchFamily="34" charset="-122"/>
                <a:cs typeface="Calibri" pitchFamily="34" charset="-120"/>
              </a:rPr>
              <a:t>Why it is cheap</a:t>
            </a:r>
            <a:endParaRPr lang="en-US" sz="1600" dirty="0"/>
          </a:p>
        </p:txBody>
      </p:sp>
      <p:sp>
        <p:nvSpPr>
          <p:cNvPr id="35" name="Text 32"/>
          <p:cNvSpPr txBox="1"/>
          <p:nvPr/>
        </p:nvSpPr>
        <p:spPr>
          <a:xfrm>
            <a:off x="822960" y="5440680"/>
            <a:ext cx="10515600" cy="594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Services are deliberately tiny. The model never reads the repository: one file, one failure, one patch. That keeps every repair near 1.4k tokens, so two or three free keys are enough.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Results: 15 of 15 repaired, and what testing taught us</a:t>
            </a:r>
            <a:endParaRPr lang="en-US" sz="3200" dirty="0"/>
          </a:p>
        </p:txBody>
      </p:sp>
      <p:graphicFrame>
        <p:nvGraphicFramePr>
          <p:cNvPr id="4" name="Chart 0" descr=""/>
          <p:cNvGraphicFramePr/>
          <p:nvPr/>
        </p:nvGraphicFramePr>
        <p:xfrm>
          <a:off x="548640" y="1325880"/>
          <a:ext cx="6675120" cy="4892040"/>
        </p:xfrm>
        <a:graphic xmlns:a="http://schemas.openxmlformats.org/drawingml/2006/main">
          <a:graphicData uri="http://schemas.openxmlformats.org/drawingml/2006/chart">
            <c:chart xmlns:c="http://schemas.openxmlformats.org/drawingml/2006/chart" r:id="rId1"/>
          </a:graphicData>
        </a:graphic>
      </p:graphicFrame>
      <p:sp>
        <p:nvSpPr>
          <p:cNvPr id="5" name="Findings card"/>
          <p:cNvSpPr/>
          <p:nvPr/>
        </p:nvSpPr>
        <p:spPr>
          <a:xfrm>
            <a:off x="7498080" y="1371600"/>
            <a:ext cx="4114800" cy="4800600"/>
          </a:xfrm>
          <a:prstGeom prst="roundRect">
            <a:avLst>
              <a:gd name="adj" fmla="val 2667"/>
            </a:avLst>
          </a:prstGeom>
          <a:solidFill>
            <a:srgbClr val="F2F4F8"/>
          </a:solidFill>
          <a:ln w="12700">
            <a:solidFill>
              <a:srgbClr val="F2F4F8"/>
            </a:solidFill>
            <a:prstDash val="solid"/>
          </a:ln>
        </p:spPr>
      </p:sp>
      <p:sp>
        <p:nvSpPr>
          <p:cNvPr id="6" name="Text 2"/>
          <p:cNvSpPr txBox="1"/>
          <p:nvPr/>
        </p:nvSpPr>
        <p:spPr>
          <a:xfrm>
            <a:off x="7772400" y="1554480"/>
            <a:ext cx="3657600" cy="365760"/>
          </a:xfrm>
          <a:prstGeom prst="rect">
            <a:avLst/>
          </a:prstGeom>
          <a:noFill/>
          <a:ln/>
        </p:spPr>
        <p:txBody>
          <a:bodyPr wrap="square" lIns="0" tIns="0" rIns="0" bIns="0" rtlCol="0" anchor="t"/>
          <a:lstStyle/>
          <a:p>
            <a:pPr indent="0" marL="0">
              <a:buNone/>
            </a:pPr>
            <a:r>
              <a:rPr lang="en-US" sz="1800" b="1" dirty="0">
                <a:solidFill>
                  <a:srgbClr val="1B2030"/>
                </a:solidFill>
                <a:latin typeface="Calibri" pitchFamily="34" charset="0"/>
                <a:ea typeface="Calibri" pitchFamily="34" charset="-122"/>
                <a:cs typeface="Calibri" pitchFamily="34" charset="-120"/>
              </a:rPr>
              <a:t>What testing taught us</a:t>
            </a:r>
            <a:endParaRPr lang="en-US" sz="1800" dirty="0"/>
          </a:p>
        </p:txBody>
      </p:sp>
      <p:sp>
        <p:nvSpPr>
          <p:cNvPr id="7" name="Text 3"/>
          <p:cNvSpPr txBox="1"/>
          <p:nvPr/>
        </p:nvSpPr>
        <p:spPr>
          <a:xfrm>
            <a:off x="7772400" y="2057400"/>
            <a:ext cx="3611880" cy="3931920"/>
          </a:xfrm>
          <a:prstGeom prst="rect">
            <a:avLst/>
          </a:prstGeom>
          <a:noFill/>
          <a:ln/>
        </p:spPr>
        <p:txBody>
          <a:bodyPr wrap="square" lIns="0" tIns="0" rIns="0" bIns="0" rtlCol="0" anchor="t"/>
          <a:lstStyle/>
          <a:p>
            <a:pPr indent="0" marL="0">
              <a:spcAft>
                <a:spcPts val="1000"/>
              </a:spcAft>
              <a:buNone/>
            </a:pPr>
            <a:r>
              <a:rPr lang="en-US" sz="1400" b="1" dirty="0">
                <a:solidFill>
                  <a:srgbClr val="1B2030"/>
                </a:solidFill>
                <a:latin typeface="Calibri" pitchFamily="34" charset="0"/>
                <a:ea typeface="Calibri" pitchFamily="34" charset="-122"/>
                <a:cs typeface="Calibri" pitchFamily="34" charset="-120"/>
              </a:rPr>
              <a:t>The AI overfit a weak probe.</a:t>
            </a:r>
            <a:pPr indent="0" marL="0">
              <a:spcAft>
                <a:spcPts val="1000"/>
              </a:spcAft>
              <a:buNone/>
            </a:pPr>
            <a:r>
              <a:rPr lang="en-US" sz="1400" dirty="0">
                <a:solidFill>
                  <a:srgbClr val="1B2030"/>
                </a:solidFill>
                <a:latin typeface="Calibri" pitchFamily="34" charset="0"/>
                <a:ea typeface="Calibri" pitchFamily="34" charset="-122"/>
                <a:cs typeface="Calibri" pitchFamily="34" charset="-120"/>
              </a:rPr>
              <a:t> It special-cased the one amount we tested. Probes now try several values and the prompt says to fix the general defect.</a:t>
            </a:r>
            <a:endParaRPr lang="en-US" sz="1400" dirty="0"/>
          </a:p>
          <a:p>
            <a:pPr indent="0" marL="0">
              <a:spcAft>
                <a:spcPts val="1000"/>
              </a:spcAft>
              <a:buNone/>
            </a:pPr>
            <a:r>
              <a:rPr lang="en-US" sz="1400" b="1" dirty="0">
                <a:solidFill>
                  <a:srgbClr val="1B2030"/>
                </a:solidFill>
                <a:latin typeface="Calibri" pitchFamily="34" charset="0"/>
                <a:ea typeface="Calibri" pitchFamily="34" charset="-122"/>
                <a:cs typeface="Calibri" pitchFamily="34" charset="-120"/>
              </a:rPr>
              <a:t>Context matters.</a:t>
            </a:r>
            <a:pPr indent="0" marL="0">
              <a:spcAft>
                <a:spcPts val="1000"/>
              </a:spcAft>
              <a:buNone/>
            </a:pPr>
            <a:r>
              <a:rPr lang="en-US" sz="1400" dirty="0">
                <a:solidFill>
                  <a:srgbClr val="1B2030"/>
                </a:solidFill>
                <a:latin typeface="Calibri" pitchFamily="34" charset="0"/>
                <a:ea typeface="Calibri" pitchFamily="34" charset="-122"/>
                <a:cs typeface="Calibri" pitchFamily="34" charset="-120"/>
              </a:rPr>
              <a:t> A wrong-port fault was misdiagnosed until the model got a service map.</a:t>
            </a:r>
            <a:endParaRPr lang="en-US" sz="1400" dirty="0"/>
          </a:p>
          <a:p>
            <a:pPr indent="0" marL="0">
              <a:spcAft>
                <a:spcPts val="1000"/>
              </a:spcAft>
              <a:buNone/>
            </a:pPr>
            <a:r>
              <a:rPr lang="en-US" sz="1400" b="1" dirty="0">
                <a:solidFill>
                  <a:srgbClr val="1B2030"/>
                </a:solidFill>
                <a:latin typeface="Calibri" pitchFamily="34" charset="0"/>
                <a:ea typeface="Calibri" pitchFamily="34" charset="-122"/>
                <a:cs typeface="Calibri" pitchFamily="34" charset="-120"/>
              </a:rPr>
              <a:t>Fallback works.</a:t>
            </a:r>
            <a:pPr indent="0" marL="0">
              <a:spcAft>
                <a:spcPts val="1000"/>
              </a:spcAft>
              <a:buNone/>
            </a:pPr>
            <a:r>
              <a:rPr lang="en-US" sz="1400" dirty="0">
                <a:solidFill>
                  <a:srgbClr val="1B2030"/>
                </a:solidFill>
                <a:latin typeface="Calibri" pitchFamily="34" charset="0"/>
                <a:ea typeface="Calibri" pitchFamily="34" charset="-122"/>
                <a:cs typeface="Calibri" pitchFamily="34" charset="-120"/>
              </a:rPr>
              <a:t> With the primary key made invalid, the repair moved to fallback 1.</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Literature survey 1: AI for code review and repair</a:t>
            </a:r>
            <a:endParaRPr lang="en-US" sz="3200" dirty="0"/>
          </a:p>
        </p:txBody>
      </p:sp>
      <p:sp>
        <p:nvSpPr>
          <p:cNvPr id="4" name="Paper row"/>
          <p:cNvSpPr/>
          <p:nvPr/>
        </p:nvSpPr>
        <p:spPr>
          <a:xfrm>
            <a:off x="548640" y="1371600"/>
            <a:ext cx="11064240" cy="1051560"/>
          </a:xfrm>
          <a:prstGeom prst="roundRect">
            <a:avLst>
              <a:gd name="adj" fmla="val 10435"/>
            </a:avLst>
          </a:prstGeom>
          <a:solidFill>
            <a:srgbClr val="F2F4F8"/>
          </a:solidFill>
          <a:ln w="12700">
            <a:solidFill>
              <a:srgbClr val="F2F4F8"/>
            </a:solidFill>
            <a:prstDash val="solid"/>
          </a:ln>
        </p:spPr>
      </p:sp>
      <p:sp>
        <p:nvSpPr>
          <p:cNvPr id="5" name="Text 2"/>
          <p:cNvSpPr txBox="1"/>
          <p:nvPr/>
        </p:nvSpPr>
        <p:spPr>
          <a:xfrm>
            <a:off x="777240" y="1481328"/>
            <a:ext cx="2011680" cy="45720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GenProg</a:t>
            </a:r>
            <a:endParaRPr lang="en-US" sz="1800" dirty="0"/>
          </a:p>
        </p:txBody>
      </p:sp>
      <p:sp>
        <p:nvSpPr>
          <p:cNvPr id="6" name="Text 3"/>
          <p:cNvSpPr txBox="1"/>
          <p:nvPr/>
        </p:nvSpPr>
        <p:spPr>
          <a:xfrm>
            <a:off x="777240" y="1938528"/>
            <a:ext cx="20116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 Goues et al., 2012</a:t>
            </a:r>
            <a:endParaRPr lang="en-US" sz="1200" dirty="0"/>
          </a:p>
        </p:txBody>
      </p:sp>
      <p:sp>
        <p:nvSpPr>
          <p:cNvPr id="7" name="Text 4"/>
          <p:cNvSpPr txBox="1"/>
          <p:nvPr/>
        </p:nvSpPr>
        <p:spPr>
          <a:xfrm>
            <a:off x="2926080" y="1481328"/>
            <a:ext cx="4846320" cy="868680"/>
          </a:xfrm>
          <a:prstGeom prst="rect">
            <a:avLst/>
          </a:prstGeom>
          <a:noFill/>
          <a:ln/>
        </p:spPr>
        <p:txBody>
          <a:bodyPr wrap="square" lIns="0" tIns="0" rIns="0" bIns="0" rtlCol="0" anchor="ctr"/>
          <a:lstStyle/>
          <a:p>
            <a:pPr indent="0" marL="0">
              <a:buNone/>
            </a:pPr>
            <a:r>
              <a:rPr lang="en-US" sz="1400" dirty="0">
                <a:solidFill>
                  <a:srgbClr val="1B2030"/>
                </a:solidFill>
                <a:latin typeface="Calibri" pitchFamily="34" charset="0"/>
                <a:ea typeface="Calibri" pitchFamily="34" charset="-122"/>
                <a:cs typeface="Calibri" pitchFamily="34" charset="-120"/>
              </a:rPr>
              <a:t>Repairs bugs by searching for patches, with the test suite as the oracle.</a:t>
            </a:r>
            <a:endParaRPr lang="en-US" sz="1400" dirty="0"/>
          </a:p>
        </p:txBody>
      </p:sp>
      <p:sp>
        <p:nvSpPr>
          <p:cNvPr id="8" name="Text 5"/>
          <p:cNvSpPr txBox="1"/>
          <p:nvPr/>
        </p:nvSpPr>
        <p:spPr>
          <a:xfrm>
            <a:off x="8046720" y="1481328"/>
            <a:ext cx="3383280" cy="868680"/>
          </a:xfrm>
          <a:prstGeom prst="rect">
            <a:avLst/>
          </a:prstGeom>
          <a:noFill/>
          <a:ln/>
        </p:spPr>
        <p:txBody>
          <a:bodyPr wrap="square" lIns="0" tIns="0" rIns="0" bIns="0" rtlCol="0" anchor="ctr"/>
          <a:lstStyle/>
          <a:p>
            <a:pPr indent="0" marL="0">
              <a:buNone/>
            </a:pPr>
            <a:r>
              <a:rPr lang="en-US" sz="1400" i="1" dirty="0">
                <a:solidFill>
                  <a:srgbClr val="1B2030"/>
                </a:solidFill>
                <a:latin typeface="Calibri" pitchFamily="34" charset="0"/>
                <a:ea typeface="Calibri" pitchFamily="34" charset="-122"/>
                <a:cs typeface="Calibri" pitchFamily="34" charset="-120"/>
              </a:rPr>
              <a:t>Our probes play the oracle role.</a:t>
            </a:r>
            <a:endParaRPr lang="en-US" sz="1400" dirty="0"/>
          </a:p>
        </p:txBody>
      </p:sp>
      <p:sp>
        <p:nvSpPr>
          <p:cNvPr id="9" name="Paper row"/>
          <p:cNvSpPr/>
          <p:nvPr/>
        </p:nvSpPr>
        <p:spPr>
          <a:xfrm>
            <a:off x="548640" y="2542032"/>
            <a:ext cx="11064240" cy="1051560"/>
          </a:xfrm>
          <a:prstGeom prst="roundRect">
            <a:avLst>
              <a:gd name="adj" fmla="val 10435"/>
            </a:avLst>
          </a:prstGeom>
          <a:solidFill>
            <a:srgbClr val="F2F4F8"/>
          </a:solidFill>
          <a:ln w="12700">
            <a:solidFill>
              <a:srgbClr val="F2F4F8"/>
            </a:solidFill>
            <a:prstDash val="solid"/>
          </a:ln>
        </p:spPr>
      </p:sp>
      <p:sp>
        <p:nvSpPr>
          <p:cNvPr id="10" name="Text 7"/>
          <p:cNvSpPr txBox="1"/>
          <p:nvPr/>
        </p:nvSpPr>
        <p:spPr>
          <a:xfrm>
            <a:off x="777240" y="2651760"/>
            <a:ext cx="2011680" cy="45720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CodeReviewer</a:t>
            </a:r>
            <a:endParaRPr lang="en-US" sz="1800" dirty="0"/>
          </a:p>
        </p:txBody>
      </p:sp>
      <p:sp>
        <p:nvSpPr>
          <p:cNvPr id="11" name="Text 8"/>
          <p:cNvSpPr txBox="1"/>
          <p:nvPr/>
        </p:nvSpPr>
        <p:spPr>
          <a:xfrm>
            <a:off x="777240" y="3108960"/>
            <a:ext cx="20116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 et al., 2022</a:t>
            </a:r>
            <a:endParaRPr lang="en-US" sz="1200" dirty="0"/>
          </a:p>
        </p:txBody>
      </p:sp>
      <p:sp>
        <p:nvSpPr>
          <p:cNvPr id="12" name="Text 9"/>
          <p:cNvSpPr txBox="1"/>
          <p:nvPr/>
        </p:nvSpPr>
        <p:spPr>
          <a:xfrm>
            <a:off x="2926080" y="2651760"/>
            <a:ext cx="4846320" cy="868680"/>
          </a:xfrm>
          <a:prstGeom prst="rect">
            <a:avLst/>
          </a:prstGeom>
          <a:noFill/>
          <a:ln/>
        </p:spPr>
        <p:txBody>
          <a:bodyPr wrap="square" lIns="0" tIns="0" rIns="0" bIns="0" rtlCol="0" anchor="ctr"/>
          <a:lstStyle/>
          <a:p>
            <a:pPr indent="0" marL="0">
              <a:buNone/>
            </a:pPr>
            <a:r>
              <a:rPr lang="en-US" sz="1400" dirty="0">
                <a:solidFill>
                  <a:srgbClr val="1B2030"/>
                </a:solidFill>
                <a:latin typeface="Calibri" pitchFamily="34" charset="0"/>
                <a:ea typeface="Calibri" pitchFamily="34" charset="-122"/>
                <a:cs typeface="Calibri" pitchFamily="34" charset="-120"/>
              </a:rPr>
              <a:t>Pre-trained model that comments on code diffs; strong on review benchmarks.</a:t>
            </a:r>
            <a:endParaRPr lang="en-US" sz="1400" dirty="0"/>
          </a:p>
        </p:txBody>
      </p:sp>
      <p:sp>
        <p:nvSpPr>
          <p:cNvPr id="13" name="Text 10"/>
          <p:cNvSpPr txBox="1"/>
          <p:nvPr/>
        </p:nvSpPr>
        <p:spPr>
          <a:xfrm>
            <a:off x="8046720" y="2651760"/>
            <a:ext cx="3383280" cy="868680"/>
          </a:xfrm>
          <a:prstGeom prst="rect">
            <a:avLst/>
          </a:prstGeom>
          <a:noFill/>
          <a:ln/>
        </p:spPr>
        <p:txBody>
          <a:bodyPr wrap="square" lIns="0" tIns="0" rIns="0" bIns="0" rtlCol="0" anchor="ctr"/>
          <a:lstStyle/>
          <a:p>
            <a:pPr indent="0" marL="0">
              <a:buNone/>
            </a:pPr>
            <a:r>
              <a:rPr lang="en-US" sz="1400" i="1" dirty="0">
                <a:solidFill>
                  <a:srgbClr val="1B2030"/>
                </a:solidFill>
                <a:latin typeface="Calibri" pitchFamily="34" charset="0"/>
                <a:ea typeface="Calibri" pitchFamily="34" charset="-122"/>
                <a:cs typeface="Calibri" pitchFamily="34" charset="-120"/>
              </a:rPr>
              <a:t>A diff-only view, like our llm_diff arm.</a:t>
            </a:r>
            <a:endParaRPr lang="en-US" sz="1400" dirty="0"/>
          </a:p>
        </p:txBody>
      </p:sp>
      <p:sp>
        <p:nvSpPr>
          <p:cNvPr id="14" name="Paper row"/>
          <p:cNvSpPr/>
          <p:nvPr/>
        </p:nvSpPr>
        <p:spPr>
          <a:xfrm>
            <a:off x="548640" y="3712464"/>
            <a:ext cx="11064240" cy="1051560"/>
          </a:xfrm>
          <a:prstGeom prst="roundRect">
            <a:avLst>
              <a:gd name="adj" fmla="val 10435"/>
            </a:avLst>
          </a:prstGeom>
          <a:solidFill>
            <a:srgbClr val="F2F4F8"/>
          </a:solidFill>
          <a:ln w="12700">
            <a:solidFill>
              <a:srgbClr val="F2F4F8"/>
            </a:solidFill>
            <a:prstDash val="solid"/>
          </a:ln>
        </p:spPr>
      </p:sp>
      <p:sp>
        <p:nvSpPr>
          <p:cNvPr id="15" name="Text 12"/>
          <p:cNvSpPr txBox="1"/>
          <p:nvPr/>
        </p:nvSpPr>
        <p:spPr>
          <a:xfrm>
            <a:off x="777240" y="3822192"/>
            <a:ext cx="2011680" cy="45720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SWE-bench</a:t>
            </a:r>
            <a:endParaRPr lang="en-US" sz="1800" dirty="0"/>
          </a:p>
        </p:txBody>
      </p:sp>
      <p:sp>
        <p:nvSpPr>
          <p:cNvPr id="16" name="Text 13"/>
          <p:cNvSpPr txBox="1"/>
          <p:nvPr/>
        </p:nvSpPr>
        <p:spPr>
          <a:xfrm>
            <a:off x="777240" y="4279392"/>
            <a:ext cx="20116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Jimenez et al., 2024</a:t>
            </a:r>
            <a:endParaRPr lang="en-US" sz="1200" dirty="0"/>
          </a:p>
        </p:txBody>
      </p:sp>
      <p:sp>
        <p:nvSpPr>
          <p:cNvPr id="17" name="Text 14"/>
          <p:cNvSpPr txBox="1"/>
          <p:nvPr/>
        </p:nvSpPr>
        <p:spPr>
          <a:xfrm>
            <a:off x="2926080" y="3822192"/>
            <a:ext cx="4846320" cy="868680"/>
          </a:xfrm>
          <a:prstGeom prst="rect">
            <a:avLst/>
          </a:prstGeom>
          <a:noFill/>
          <a:ln/>
        </p:spPr>
        <p:txBody>
          <a:bodyPr wrap="square" lIns="0" tIns="0" rIns="0" bIns="0" rtlCol="0" anchor="ctr"/>
          <a:lstStyle/>
          <a:p>
            <a:pPr indent="0" marL="0">
              <a:buNone/>
            </a:pPr>
            <a:r>
              <a:rPr lang="en-US" sz="1400" dirty="0">
                <a:solidFill>
                  <a:srgbClr val="1B2030"/>
                </a:solidFill>
                <a:latin typeface="Calibri" pitchFamily="34" charset="0"/>
                <a:ea typeface="Calibri" pitchFamily="34" charset="-122"/>
                <a:cs typeface="Calibri" pitchFamily="34" charset="-120"/>
              </a:rPr>
              <a:t>Benchmark of real GitHub issues; fixing them needs repo-wide context.</a:t>
            </a:r>
            <a:endParaRPr lang="en-US" sz="1400" dirty="0"/>
          </a:p>
        </p:txBody>
      </p:sp>
      <p:sp>
        <p:nvSpPr>
          <p:cNvPr id="18" name="Text 15"/>
          <p:cNvSpPr txBox="1"/>
          <p:nvPr/>
        </p:nvSpPr>
        <p:spPr>
          <a:xfrm>
            <a:off x="8046720" y="3822192"/>
            <a:ext cx="3383280" cy="868680"/>
          </a:xfrm>
          <a:prstGeom prst="rect">
            <a:avLst/>
          </a:prstGeom>
          <a:noFill/>
          <a:ln/>
        </p:spPr>
        <p:txBody>
          <a:bodyPr wrap="square" lIns="0" tIns="0" rIns="0" bIns="0" rtlCol="0" anchor="ctr"/>
          <a:lstStyle/>
          <a:p>
            <a:pPr indent="0" marL="0">
              <a:buNone/>
            </a:pPr>
            <a:r>
              <a:rPr lang="en-US" sz="1400" i="1" dirty="0">
                <a:solidFill>
                  <a:srgbClr val="1B2030"/>
                </a:solidFill>
                <a:latin typeface="Calibri" pitchFamily="34" charset="0"/>
                <a:ea typeface="Calibri" pitchFamily="34" charset="-122"/>
                <a:cs typeface="Calibri" pitchFamily="34" charset="-120"/>
              </a:rPr>
              <a:t>Motivates retrieval over the whole repository.</a:t>
            </a:r>
            <a:endParaRPr lang="en-US" sz="1400" dirty="0"/>
          </a:p>
        </p:txBody>
      </p:sp>
      <p:sp>
        <p:nvSpPr>
          <p:cNvPr id="19" name="Paper row"/>
          <p:cNvSpPr/>
          <p:nvPr/>
        </p:nvSpPr>
        <p:spPr>
          <a:xfrm>
            <a:off x="548640" y="4882896"/>
            <a:ext cx="11064240" cy="1051560"/>
          </a:xfrm>
          <a:prstGeom prst="roundRect">
            <a:avLst>
              <a:gd name="adj" fmla="val 10435"/>
            </a:avLst>
          </a:prstGeom>
          <a:solidFill>
            <a:srgbClr val="F2F4F8"/>
          </a:solidFill>
          <a:ln w="12700">
            <a:solidFill>
              <a:srgbClr val="F2F4F8"/>
            </a:solidFill>
            <a:prstDash val="solid"/>
          </a:ln>
        </p:spPr>
      </p:sp>
      <p:sp>
        <p:nvSpPr>
          <p:cNvPr id="20" name="Text 17"/>
          <p:cNvSpPr txBox="1"/>
          <p:nvPr/>
        </p:nvSpPr>
        <p:spPr>
          <a:xfrm>
            <a:off x="777240" y="4992624"/>
            <a:ext cx="2011680" cy="45720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SWE-agent</a:t>
            </a:r>
            <a:endParaRPr lang="en-US" sz="1800" dirty="0"/>
          </a:p>
        </p:txBody>
      </p:sp>
      <p:sp>
        <p:nvSpPr>
          <p:cNvPr id="21" name="Text 18"/>
          <p:cNvSpPr txBox="1"/>
          <p:nvPr/>
        </p:nvSpPr>
        <p:spPr>
          <a:xfrm>
            <a:off x="777240" y="5449824"/>
            <a:ext cx="20116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Yang et al., 2024</a:t>
            </a:r>
            <a:endParaRPr lang="en-US" sz="1200" dirty="0"/>
          </a:p>
        </p:txBody>
      </p:sp>
      <p:sp>
        <p:nvSpPr>
          <p:cNvPr id="22" name="Text 19"/>
          <p:cNvSpPr txBox="1"/>
          <p:nvPr/>
        </p:nvSpPr>
        <p:spPr>
          <a:xfrm>
            <a:off x="2926080" y="4992624"/>
            <a:ext cx="4846320" cy="868680"/>
          </a:xfrm>
          <a:prstGeom prst="rect">
            <a:avLst/>
          </a:prstGeom>
          <a:noFill/>
          <a:ln/>
        </p:spPr>
        <p:txBody>
          <a:bodyPr wrap="square" lIns="0" tIns="0" rIns="0" bIns="0" rtlCol="0" anchor="ctr"/>
          <a:lstStyle/>
          <a:p>
            <a:pPr indent="0" marL="0">
              <a:buNone/>
            </a:pPr>
            <a:r>
              <a:rPr lang="en-US" sz="1400" dirty="0">
                <a:solidFill>
                  <a:srgbClr val="1B2030"/>
                </a:solidFill>
                <a:latin typeface="Calibri" pitchFamily="34" charset="0"/>
                <a:ea typeface="Calibri" pitchFamily="34" charset="-122"/>
                <a:cs typeface="Calibri" pitchFamily="34" charset="-120"/>
              </a:rPr>
              <a:t>Gives the model an agent-computer interface to navigate repos and run tests.</a:t>
            </a:r>
            <a:endParaRPr lang="en-US" sz="1400" dirty="0"/>
          </a:p>
        </p:txBody>
      </p:sp>
      <p:sp>
        <p:nvSpPr>
          <p:cNvPr id="23" name="Text 20"/>
          <p:cNvSpPr txBox="1"/>
          <p:nvPr/>
        </p:nvSpPr>
        <p:spPr>
          <a:xfrm>
            <a:off x="8046720" y="4992624"/>
            <a:ext cx="3383280" cy="868680"/>
          </a:xfrm>
          <a:prstGeom prst="rect">
            <a:avLst/>
          </a:prstGeom>
          <a:noFill/>
          <a:ln/>
        </p:spPr>
        <p:txBody>
          <a:bodyPr wrap="square" lIns="0" tIns="0" rIns="0" bIns="0" rtlCol="0" anchor="ctr"/>
          <a:lstStyle/>
          <a:p>
            <a:pPr indent="0" marL="0">
              <a:buNone/>
            </a:pPr>
            <a:r>
              <a:rPr lang="en-US" sz="1400" i="1" dirty="0">
                <a:solidFill>
                  <a:srgbClr val="1B2030"/>
                </a:solidFill>
                <a:latin typeface="Calibri" pitchFamily="34" charset="0"/>
                <a:ea typeface="Calibri" pitchFamily="34" charset="-122"/>
                <a:cs typeface="Calibri" pitchFamily="34" charset="-120"/>
              </a:rPr>
              <a:t>Tooling for the agent matters as much as the model.</a:t>
            </a:r>
            <a:endParaRPr lang="en-US" sz="1400" dirty="0"/>
          </a:p>
        </p:txBody>
      </p:sp>
      <p:sp>
        <p:nvSpPr>
          <p:cNvPr id="24" name="Text 21"/>
          <p:cNvSpPr txBox="1"/>
          <p:nvPr/>
        </p:nvSpPr>
        <p:spPr>
          <a:xfrm>
            <a:off x="548640" y="6080760"/>
            <a:ext cx="109728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Our reading: most work targets code at rest (diffs, issues). Few papers close the loop on a running service.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Literature survey 2: retrieval for code</a:t>
            </a:r>
            <a:endParaRPr lang="en-US" sz="3200" dirty="0"/>
          </a:p>
        </p:txBody>
      </p:sp>
      <p:sp>
        <p:nvSpPr>
          <p:cNvPr id="4" name="Paper card"/>
          <p:cNvSpPr/>
          <p:nvPr/>
        </p:nvSpPr>
        <p:spPr>
          <a:xfrm>
            <a:off x="548640" y="1371600"/>
            <a:ext cx="5486400" cy="1371600"/>
          </a:xfrm>
          <a:prstGeom prst="roundRect">
            <a:avLst>
              <a:gd name="adj" fmla="val 8000"/>
            </a:avLst>
          </a:prstGeom>
          <a:solidFill>
            <a:srgbClr val="F2F4F8"/>
          </a:solidFill>
          <a:ln w="12700">
            <a:solidFill>
              <a:srgbClr val="F2F4F8"/>
            </a:solidFill>
            <a:prstDash val="solid"/>
          </a:ln>
        </p:spPr>
      </p:sp>
      <p:sp>
        <p:nvSpPr>
          <p:cNvPr id="5" name="Text 2"/>
          <p:cNvSpPr txBox="1"/>
          <p:nvPr/>
        </p:nvSpPr>
        <p:spPr>
          <a:xfrm>
            <a:off x="777240" y="1508760"/>
            <a:ext cx="237744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BM25</a:t>
            </a:r>
            <a:endParaRPr lang="en-US" sz="1800" dirty="0"/>
          </a:p>
        </p:txBody>
      </p:sp>
      <p:sp>
        <p:nvSpPr>
          <p:cNvPr id="6" name="Text 3"/>
          <p:cNvSpPr txBox="1"/>
          <p:nvPr/>
        </p:nvSpPr>
        <p:spPr>
          <a:xfrm>
            <a:off x="3108960" y="1545336"/>
            <a:ext cx="283464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Robertson and Zaragoza, 2009</a:t>
            </a:r>
            <a:endParaRPr lang="en-US" sz="1200" dirty="0"/>
          </a:p>
        </p:txBody>
      </p:sp>
      <p:sp>
        <p:nvSpPr>
          <p:cNvPr id="7" name="Text 4"/>
          <p:cNvSpPr txBox="1"/>
          <p:nvPr/>
        </p:nvSpPr>
        <p:spPr>
          <a:xfrm>
            <a:off x="777240" y="2011680"/>
            <a:ext cx="5029200" cy="68580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Probabilistic keyword ranking. Our baseline retriever.</a:t>
            </a:r>
            <a:endParaRPr lang="en-US" sz="1400" dirty="0"/>
          </a:p>
        </p:txBody>
      </p:sp>
      <p:sp>
        <p:nvSpPr>
          <p:cNvPr id="8" name="Paper card"/>
          <p:cNvSpPr/>
          <p:nvPr/>
        </p:nvSpPr>
        <p:spPr>
          <a:xfrm>
            <a:off x="548640" y="2880360"/>
            <a:ext cx="5486400" cy="1371600"/>
          </a:xfrm>
          <a:prstGeom prst="roundRect">
            <a:avLst>
              <a:gd name="adj" fmla="val 8000"/>
            </a:avLst>
          </a:prstGeom>
          <a:solidFill>
            <a:srgbClr val="F2F4F8"/>
          </a:solidFill>
          <a:ln w="12700">
            <a:solidFill>
              <a:srgbClr val="F2F4F8"/>
            </a:solidFill>
            <a:prstDash val="solid"/>
          </a:ln>
        </p:spPr>
      </p:sp>
      <p:sp>
        <p:nvSpPr>
          <p:cNvPr id="9" name="Text 6"/>
          <p:cNvSpPr txBox="1"/>
          <p:nvPr/>
        </p:nvSpPr>
        <p:spPr>
          <a:xfrm>
            <a:off x="777240" y="3017520"/>
            <a:ext cx="237744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RAG</a:t>
            </a:r>
            <a:endParaRPr lang="en-US" sz="1800" dirty="0"/>
          </a:p>
        </p:txBody>
      </p:sp>
      <p:sp>
        <p:nvSpPr>
          <p:cNvPr id="10" name="Text 7"/>
          <p:cNvSpPr txBox="1"/>
          <p:nvPr/>
        </p:nvSpPr>
        <p:spPr>
          <a:xfrm>
            <a:off x="3108960" y="3054096"/>
            <a:ext cx="283464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Lewis et al., 2020</a:t>
            </a:r>
            <a:endParaRPr lang="en-US" sz="1200" dirty="0"/>
          </a:p>
        </p:txBody>
      </p:sp>
      <p:sp>
        <p:nvSpPr>
          <p:cNvPr id="11" name="Text 8"/>
          <p:cNvSpPr txBox="1"/>
          <p:nvPr/>
        </p:nvSpPr>
        <p:spPr>
          <a:xfrm>
            <a:off x="777240" y="3520440"/>
            <a:ext cx="5029200" cy="68580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Condition generation on retrieved passages instead of model memory alone.</a:t>
            </a:r>
            <a:endParaRPr lang="en-US" sz="1400" dirty="0"/>
          </a:p>
        </p:txBody>
      </p:sp>
      <p:sp>
        <p:nvSpPr>
          <p:cNvPr id="12" name="Paper card"/>
          <p:cNvSpPr/>
          <p:nvPr/>
        </p:nvSpPr>
        <p:spPr>
          <a:xfrm>
            <a:off x="548640" y="4389120"/>
            <a:ext cx="5486400" cy="1371600"/>
          </a:xfrm>
          <a:prstGeom prst="roundRect">
            <a:avLst>
              <a:gd name="adj" fmla="val 8000"/>
            </a:avLst>
          </a:prstGeom>
          <a:solidFill>
            <a:srgbClr val="F2F4F8"/>
          </a:solidFill>
          <a:ln w="12700">
            <a:solidFill>
              <a:srgbClr val="F2F4F8"/>
            </a:solidFill>
            <a:prstDash val="solid"/>
          </a:ln>
        </p:spPr>
      </p:sp>
      <p:sp>
        <p:nvSpPr>
          <p:cNvPr id="13" name="Text 10"/>
          <p:cNvSpPr txBox="1"/>
          <p:nvPr/>
        </p:nvSpPr>
        <p:spPr>
          <a:xfrm>
            <a:off x="777240" y="4526280"/>
            <a:ext cx="237744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RepoCoder</a:t>
            </a:r>
            <a:endParaRPr lang="en-US" sz="1800" dirty="0"/>
          </a:p>
        </p:txBody>
      </p:sp>
      <p:sp>
        <p:nvSpPr>
          <p:cNvPr id="14" name="Text 11"/>
          <p:cNvSpPr txBox="1"/>
          <p:nvPr/>
        </p:nvSpPr>
        <p:spPr>
          <a:xfrm>
            <a:off x="3108960" y="4562856"/>
            <a:ext cx="283464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Zhang et al., 2023</a:t>
            </a:r>
            <a:endParaRPr lang="en-US" sz="1200" dirty="0"/>
          </a:p>
        </p:txBody>
      </p:sp>
      <p:sp>
        <p:nvSpPr>
          <p:cNvPr id="15" name="Text 12"/>
          <p:cNvSpPr txBox="1"/>
          <p:nvPr/>
        </p:nvSpPr>
        <p:spPr>
          <a:xfrm>
            <a:off x="777240" y="5029200"/>
            <a:ext cx="5029200" cy="68580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Iterative retrieval for repo-level completion; reports over 10% gain on an in-file baseline.</a:t>
            </a:r>
            <a:endParaRPr lang="en-US" sz="1400" dirty="0"/>
          </a:p>
        </p:txBody>
      </p:sp>
      <p:graphicFrame>
        <p:nvGraphicFramePr>
          <p:cNvPr id="16" name="Chart 0" descr=""/>
          <p:cNvGraphicFramePr/>
          <p:nvPr/>
        </p:nvGraphicFramePr>
        <p:xfrm>
          <a:off x="6309360" y="1325880"/>
          <a:ext cx="5303520" cy="3931920"/>
        </p:xfrm>
        <a:graphic xmlns:a="http://schemas.openxmlformats.org/drawingml/2006/main">
          <a:graphicData uri="http://schemas.openxmlformats.org/drawingml/2006/chart">
            <c:chart xmlns:c="http://schemas.openxmlformats.org/drawingml/2006/chart" r:id="rId1"/>
          </a:graphicData>
        </a:graphic>
      </p:graphicFrame>
      <p:sp>
        <p:nvSpPr>
          <p:cNvPr id="17" name="Text 13"/>
          <p:cNvSpPr txBox="1"/>
          <p:nvPr/>
        </p:nvSpPr>
        <p:spPr>
          <a:xfrm>
            <a:off x="6309360" y="5349240"/>
            <a:ext cx="5303520" cy="5486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n = 4 cases: a better rank, not new reachability. BM25 gets there at k=6.</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Literature survey 3: reliability engineering and AIOps</a:t>
            </a:r>
            <a:endParaRPr lang="en-US" sz="3200" dirty="0"/>
          </a:p>
        </p:txBody>
      </p:sp>
      <p:sp>
        <p:nvSpPr>
          <p:cNvPr id="4" name="Paper card"/>
          <p:cNvSpPr/>
          <p:nvPr/>
        </p:nvSpPr>
        <p:spPr>
          <a:xfrm>
            <a:off x="548640" y="1371600"/>
            <a:ext cx="5440680" cy="1828800"/>
          </a:xfrm>
          <a:prstGeom prst="roundRect">
            <a:avLst>
              <a:gd name="adj" fmla="val 6000"/>
            </a:avLst>
          </a:prstGeom>
          <a:solidFill>
            <a:srgbClr val="F2F4F8"/>
          </a:solidFill>
          <a:ln w="12700">
            <a:solidFill>
              <a:srgbClr val="F2F4F8"/>
            </a:solidFill>
            <a:prstDash val="solid"/>
          </a:ln>
        </p:spPr>
      </p:sp>
      <p:sp>
        <p:nvSpPr>
          <p:cNvPr id="5" name="Text 2"/>
          <p:cNvSpPr txBox="1"/>
          <p:nvPr/>
        </p:nvSpPr>
        <p:spPr>
          <a:xfrm>
            <a:off x="777240" y="1536192"/>
            <a:ext cx="320040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SRE</a:t>
            </a:r>
            <a:endParaRPr lang="en-US" sz="1800" dirty="0"/>
          </a:p>
        </p:txBody>
      </p:sp>
      <p:sp>
        <p:nvSpPr>
          <p:cNvPr id="6" name="Text 3"/>
          <p:cNvSpPr txBox="1"/>
          <p:nvPr/>
        </p:nvSpPr>
        <p:spPr>
          <a:xfrm>
            <a:off x="3657600" y="1572768"/>
            <a:ext cx="210312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Beyer et al., 2016</a:t>
            </a:r>
            <a:endParaRPr lang="en-US" sz="1200" dirty="0"/>
          </a:p>
        </p:txBody>
      </p:sp>
      <p:sp>
        <p:nvSpPr>
          <p:cNvPr id="7" name="Text 4"/>
          <p:cNvSpPr txBox="1"/>
          <p:nvPr/>
        </p:nvSpPr>
        <p:spPr>
          <a:xfrm>
            <a:off x="777240" y="2103120"/>
            <a:ext cx="4983480" cy="100584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The practice we automate: monitoring, incident response, error budgets.</a:t>
            </a:r>
            <a:endParaRPr lang="en-US" sz="1400" dirty="0"/>
          </a:p>
        </p:txBody>
      </p:sp>
      <p:sp>
        <p:nvSpPr>
          <p:cNvPr id="8" name="Paper card"/>
          <p:cNvSpPr/>
          <p:nvPr/>
        </p:nvSpPr>
        <p:spPr>
          <a:xfrm>
            <a:off x="6172200" y="1371600"/>
            <a:ext cx="5440680" cy="1828800"/>
          </a:xfrm>
          <a:prstGeom prst="roundRect">
            <a:avLst>
              <a:gd name="adj" fmla="val 6000"/>
            </a:avLst>
          </a:prstGeom>
          <a:solidFill>
            <a:srgbClr val="F2F4F8"/>
          </a:solidFill>
          <a:ln w="12700">
            <a:solidFill>
              <a:srgbClr val="F2F4F8"/>
            </a:solidFill>
            <a:prstDash val="solid"/>
          </a:ln>
        </p:spPr>
      </p:sp>
      <p:sp>
        <p:nvSpPr>
          <p:cNvPr id="9" name="Text 6"/>
          <p:cNvSpPr txBox="1"/>
          <p:nvPr/>
        </p:nvSpPr>
        <p:spPr>
          <a:xfrm>
            <a:off x="6400800" y="1536192"/>
            <a:ext cx="320040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Chaos engineering</a:t>
            </a:r>
            <a:endParaRPr lang="en-US" sz="1800" dirty="0"/>
          </a:p>
        </p:txBody>
      </p:sp>
      <p:sp>
        <p:nvSpPr>
          <p:cNvPr id="10" name="Text 7"/>
          <p:cNvSpPr txBox="1"/>
          <p:nvPr/>
        </p:nvSpPr>
        <p:spPr>
          <a:xfrm>
            <a:off x="9281160" y="1572768"/>
            <a:ext cx="210312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Basiri et al., 2016</a:t>
            </a:r>
            <a:endParaRPr lang="en-US" sz="1200" dirty="0"/>
          </a:p>
        </p:txBody>
      </p:sp>
      <p:sp>
        <p:nvSpPr>
          <p:cNvPr id="11" name="Text 8"/>
          <p:cNvSpPr txBox="1"/>
          <p:nvPr/>
        </p:nvSpPr>
        <p:spPr>
          <a:xfrm>
            <a:off x="6400800" y="2103120"/>
            <a:ext cx="4983480" cy="100584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Inject failures on purpose to verify resilience. Our Break button.</a:t>
            </a:r>
            <a:endParaRPr lang="en-US" sz="1400" dirty="0"/>
          </a:p>
        </p:txBody>
      </p:sp>
      <p:sp>
        <p:nvSpPr>
          <p:cNvPr id="12" name="Paper card"/>
          <p:cNvSpPr/>
          <p:nvPr/>
        </p:nvSpPr>
        <p:spPr>
          <a:xfrm>
            <a:off x="548640" y="3383280"/>
            <a:ext cx="5440680" cy="1828800"/>
          </a:xfrm>
          <a:prstGeom prst="roundRect">
            <a:avLst>
              <a:gd name="adj" fmla="val 6000"/>
            </a:avLst>
          </a:prstGeom>
          <a:solidFill>
            <a:srgbClr val="F2F4F8"/>
          </a:solidFill>
          <a:ln w="12700">
            <a:solidFill>
              <a:srgbClr val="F2F4F8"/>
            </a:solidFill>
            <a:prstDash val="solid"/>
          </a:ln>
        </p:spPr>
      </p:sp>
      <p:sp>
        <p:nvSpPr>
          <p:cNvPr id="13" name="Text 10"/>
          <p:cNvSpPr txBox="1"/>
          <p:nvPr/>
        </p:nvSpPr>
        <p:spPr>
          <a:xfrm>
            <a:off x="777240" y="3547872"/>
            <a:ext cx="320040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LLMs for incidents</a:t>
            </a:r>
            <a:endParaRPr lang="en-US" sz="1800" dirty="0"/>
          </a:p>
        </p:txBody>
      </p:sp>
      <p:sp>
        <p:nvSpPr>
          <p:cNvPr id="14" name="Text 11"/>
          <p:cNvSpPr txBox="1"/>
          <p:nvPr/>
        </p:nvSpPr>
        <p:spPr>
          <a:xfrm>
            <a:off x="3657600" y="3584448"/>
            <a:ext cx="210312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Ahmed et al., 2023</a:t>
            </a:r>
            <a:endParaRPr lang="en-US" sz="1200" dirty="0"/>
          </a:p>
        </p:txBody>
      </p:sp>
      <p:sp>
        <p:nvSpPr>
          <p:cNvPr id="15" name="Text 12"/>
          <p:cNvSpPr txBox="1"/>
          <p:nvPr/>
        </p:nvSpPr>
        <p:spPr>
          <a:xfrm>
            <a:off x="777240" y="4114800"/>
            <a:ext cx="4983480" cy="100584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Root cause and mitigation recommendations, studied on over 40,000 incidents.</a:t>
            </a:r>
            <a:endParaRPr lang="en-US" sz="1400" dirty="0"/>
          </a:p>
        </p:txBody>
      </p:sp>
      <p:sp>
        <p:nvSpPr>
          <p:cNvPr id="16" name="Paper card"/>
          <p:cNvSpPr/>
          <p:nvPr/>
        </p:nvSpPr>
        <p:spPr>
          <a:xfrm>
            <a:off x="6172200" y="3383280"/>
            <a:ext cx="5440680" cy="1828800"/>
          </a:xfrm>
          <a:prstGeom prst="roundRect">
            <a:avLst>
              <a:gd name="adj" fmla="val 6000"/>
            </a:avLst>
          </a:prstGeom>
          <a:solidFill>
            <a:srgbClr val="F2F4F8"/>
          </a:solidFill>
          <a:ln w="12700">
            <a:solidFill>
              <a:srgbClr val="F2F4F8"/>
            </a:solidFill>
            <a:prstDash val="solid"/>
          </a:ln>
        </p:spPr>
      </p:sp>
      <p:sp>
        <p:nvSpPr>
          <p:cNvPr id="17" name="Text 14"/>
          <p:cNvSpPr txBox="1"/>
          <p:nvPr/>
        </p:nvSpPr>
        <p:spPr>
          <a:xfrm>
            <a:off x="6400800" y="3547872"/>
            <a:ext cx="3200400" cy="411480"/>
          </a:xfrm>
          <a:prstGeom prst="rect">
            <a:avLst/>
          </a:prstGeom>
          <a:noFill/>
          <a:ln/>
        </p:spPr>
        <p:txBody>
          <a:bodyPr wrap="square" lIns="0" tIns="0" rIns="0" bIns="0" rtlCol="0" anchor="t"/>
          <a:lstStyle/>
          <a:p>
            <a:pPr indent="0" marL="0">
              <a:buNone/>
            </a:pPr>
            <a:r>
              <a:rPr lang="en-US" sz="1800" b="1" dirty="0">
                <a:solidFill>
                  <a:srgbClr val="14B8A6"/>
                </a:solidFill>
                <a:latin typeface="Calibri" pitchFamily="34" charset="0"/>
                <a:ea typeface="Calibri" pitchFamily="34" charset="-122"/>
                <a:cs typeface="Calibri" pitchFamily="34" charset="-120"/>
              </a:rPr>
              <a:t>RCACopilot</a:t>
            </a:r>
            <a:endParaRPr lang="en-US" sz="1800" dirty="0"/>
          </a:p>
        </p:txBody>
      </p:sp>
      <p:sp>
        <p:nvSpPr>
          <p:cNvPr id="18" name="Text 15"/>
          <p:cNvSpPr txBox="1"/>
          <p:nvPr/>
        </p:nvSpPr>
        <p:spPr>
          <a:xfrm>
            <a:off x="9281160" y="3584448"/>
            <a:ext cx="2103120" cy="365760"/>
          </a:xfrm>
          <a:prstGeom prst="rect">
            <a:avLst/>
          </a:prstGeom>
          <a:noFill/>
          <a:ln/>
        </p:spPr>
        <p:txBody>
          <a:bodyPr wrap="square" lIns="0" tIns="0" rIns="0" bIns="0" rtlCol="0" anchor="t"/>
          <a:lstStyle/>
          <a:p>
            <a:pPr algn="r" indent="0" marL="0">
              <a:buNone/>
            </a:pPr>
            <a:r>
              <a:rPr lang="en-US" sz="1200" dirty="0">
                <a:solidFill>
                  <a:srgbClr val="6B7280"/>
                </a:solidFill>
                <a:latin typeface="Calibri" pitchFamily="34" charset="0"/>
                <a:ea typeface="Calibri" pitchFamily="34" charset="-122"/>
                <a:cs typeface="Calibri" pitchFamily="34" charset="-120"/>
              </a:rPr>
              <a:t>Chen et al., 2024</a:t>
            </a:r>
            <a:endParaRPr lang="en-US" sz="1200" dirty="0"/>
          </a:p>
        </p:txBody>
      </p:sp>
      <p:sp>
        <p:nvSpPr>
          <p:cNvPr id="19" name="Text 16"/>
          <p:cNvSpPr txBox="1"/>
          <p:nvPr/>
        </p:nvSpPr>
        <p:spPr>
          <a:xfrm>
            <a:off x="6400800" y="4114800"/>
            <a:ext cx="4983480" cy="1005840"/>
          </a:xfrm>
          <a:prstGeom prst="rect">
            <a:avLst/>
          </a:prstGeom>
          <a:noFill/>
          <a:ln/>
        </p:spPr>
        <p:txBody>
          <a:bodyPr wrap="square" lIns="0" tIns="0" rIns="0" bIns="0" rtlCol="0" anchor="t"/>
          <a:lstStyle/>
          <a:p>
            <a:pPr indent="0" marL="0">
              <a:buNone/>
            </a:pPr>
            <a:r>
              <a:rPr lang="en-US" sz="1400" dirty="0">
                <a:solidFill>
                  <a:srgbClr val="1B2030"/>
                </a:solidFill>
                <a:latin typeface="Calibri" pitchFamily="34" charset="0"/>
                <a:ea typeface="Calibri" pitchFamily="34" charset="-122"/>
                <a:cs typeface="Calibri" pitchFamily="34" charset="-120"/>
              </a:rPr>
              <a:t>Collects diagnostics, then an LLM predicts the root-cause category (reported accuracy up to 0.766).</a:t>
            </a:r>
            <a:endParaRPr lang="en-US" sz="1400" dirty="0"/>
          </a:p>
        </p:txBody>
      </p:sp>
      <p:sp>
        <p:nvSpPr>
          <p:cNvPr id="20" name="Callout"/>
          <p:cNvSpPr/>
          <p:nvPr/>
        </p:nvSpPr>
        <p:spPr>
          <a:xfrm>
            <a:off x="548640" y="5440680"/>
            <a:ext cx="11064240" cy="731520"/>
          </a:xfrm>
          <a:prstGeom prst="roundRect">
            <a:avLst>
              <a:gd name="adj" fmla="val 15000"/>
            </a:avLst>
          </a:prstGeom>
          <a:solidFill>
            <a:srgbClr val="0F2E2B"/>
          </a:solidFill>
          <a:ln w="12700">
            <a:solidFill>
              <a:srgbClr val="0F2E2B"/>
            </a:solidFill>
            <a:prstDash val="solid"/>
          </a:ln>
        </p:spPr>
      </p:sp>
      <p:sp>
        <p:nvSpPr>
          <p:cNvPr id="21" name="Text 18"/>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In this literature the model recommends and a human acts. Our prototype acts, but only inside a narrow, sandboxed scope.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Research gap and where ReviewMind sits</a:t>
            </a:r>
            <a:endParaRPr lang="en-US" sz="3200" dirty="0"/>
          </a:p>
        </p:txBody>
      </p:sp>
      <p:sp>
        <p:nvSpPr>
          <p:cNvPr id="4" name="Gap card"/>
          <p:cNvSpPr/>
          <p:nvPr/>
        </p:nvSpPr>
        <p:spPr>
          <a:xfrm>
            <a:off x="548640" y="1371600"/>
            <a:ext cx="3566160" cy="1600200"/>
          </a:xfrm>
          <a:prstGeom prst="roundRect">
            <a:avLst>
              <a:gd name="adj" fmla="val 6857"/>
            </a:avLst>
          </a:prstGeom>
          <a:solidFill>
            <a:srgbClr val="F2F4F8"/>
          </a:solidFill>
          <a:ln w="12700">
            <a:solidFill>
              <a:srgbClr val="F2F4F8"/>
            </a:solidFill>
            <a:prstDash val="solid"/>
          </a:ln>
        </p:spPr>
      </p:sp>
      <p:sp>
        <p:nvSpPr>
          <p:cNvPr id="5" name="Text 2"/>
          <p:cNvSpPr txBox="1"/>
          <p:nvPr/>
        </p:nvSpPr>
        <p:spPr>
          <a:xfrm>
            <a:off x="777240" y="1508760"/>
            <a:ext cx="310896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Code review research</a:t>
            </a:r>
            <a:endParaRPr lang="en-US" sz="1600" dirty="0"/>
          </a:p>
        </p:txBody>
      </p:sp>
      <p:sp>
        <p:nvSpPr>
          <p:cNvPr id="6" name="Text 3"/>
          <p:cNvSpPr txBox="1"/>
          <p:nvPr/>
        </p:nvSpPr>
        <p:spPr>
          <a:xfrm>
            <a:off x="777240" y="1920240"/>
            <a:ext cx="3108960" cy="96012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Looks at the diff. Often blind to code defined in another file.</a:t>
            </a:r>
            <a:endParaRPr lang="en-US" sz="1400" dirty="0"/>
          </a:p>
        </p:txBody>
      </p:sp>
      <p:sp>
        <p:nvSpPr>
          <p:cNvPr id="7" name="Gap card"/>
          <p:cNvSpPr/>
          <p:nvPr/>
        </p:nvSpPr>
        <p:spPr>
          <a:xfrm>
            <a:off x="4297680" y="1371600"/>
            <a:ext cx="3566160" cy="1600200"/>
          </a:xfrm>
          <a:prstGeom prst="roundRect">
            <a:avLst>
              <a:gd name="adj" fmla="val 6857"/>
            </a:avLst>
          </a:prstGeom>
          <a:solidFill>
            <a:srgbClr val="F2F4F8"/>
          </a:solidFill>
          <a:ln w="12700">
            <a:solidFill>
              <a:srgbClr val="F2F4F8"/>
            </a:solidFill>
            <a:prstDash val="solid"/>
          </a:ln>
        </p:spPr>
      </p:sp>
      <p:sp>
        <p:nvSpPr>
          <p:cNvPr id="8" name="Text 5"/>
          <p:cNvSpPr txBox="1"/>
          <p:nvPr/>
        </p:nvSpPr>
        <p:spPr>
          <a:xfrm>
            <a:off x="4526280" y="1508760"/>
            <a:ext cx="310896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Program repair research</a:t>
            </a:r>
            <a:endParaRPr lang="en-US" sz="1600" dirty="0"/>
          </a:p>
        </p:txBody>
      </p:sp>
      <p:sp>
        <p:nvSpPr>
          <p:cNvPr id="9" name="Text 6"/>
          <p:cNvSpPr txBox="1"/>
          <p:nvPr/>
        </p:nvSpPr>
        <p:spPr>
          <a:xfrm>
            <a:off x="4526280" y="1920240"/>
            <a:ext cx="3108960" cy="96012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Targets code at rest: issues, tests, benchmarks. Rarely a live service.</a:t>
            </a:r>
            <a:endParaRPr lang="en-US" sz="1400" dirty="0"/>
          </a:p>
        </p:txBody>
      </p:sp>
      <p:sp>
        <p:nvSpPr>
          <p:cNvPr id="10" name="Gap card"/>
          <p:cNvSpPr/>
          <p:nvPr/>
        </p:nvSpPr>
        <p:spPr>
          <a:xfrm>
            <a:off x="8046720" y="1371600"/>
            <a:ext cx="3566160" cy="1600200"/>
          </a:xfrm>
          <a:prstGeom prst="roundRect">
            <a:avLst>
              <a:gd name="adj" fmla="val 6857"/>
            </a:avLst>
          </a:prstGeom>
          <a:solidFill>
            <a:srgbClr val="F2F4F8"/>
          </a:solidFill>
          <a:ln w="12700">
            <a:solidFill>
              <a:srgbClr val="F2F4F8"/>
            </a:solidFill>
            <a:prstDash val="solid"/>
          </a:ln>
        </p:spPr>
      </p:sp>
      <p:sp>
        <p:nvSpPr>
          <p:cNvPr id="11" name="Text 8"/>
          <p:cNvSpPr txBox="1"/>
          <p:nvPr/>
        </p:nvSpPr>
        <p:spPr>
          <a:xfrm>
            <a:off x="8275320" y="1508760"/>
            <a:ext cx="3108960" cy="365760"/>
          </a:xfrm>
          <a:prstGeom prst="rect">
            <a:avLst/>
          </a:prstGeom>
          <a:noFill/>
          <a:ln/>
        </p:spPr>
        <p:txBody>
          <a:bodyPr wrap="square" lIns="0" tIns="0" rIns="0" bIns="0" rtlCol="0" anchor="t"/>
          <a:lstStyle/>
          <a:p>
            <a:pPr indent="0" marL="0">
              <a:buNone/>
            </a:pPr>
            <a:r>
              <a:rPr lang="en-US" sz="1600" b="1" dirty="0">
                <a:solidFill>
                  <a:srgbClr val="1B2030"/>
                </a:solidFill>
                <a:latin typeface="Calibri" pitchFamily="34" charset="0"/>
                <a:ea typeface="Calibri" pitchFamily="34" charset="-122"/>
                <a:cs typeface="Calibri" pitchFamily="34" charset="-120"/>
              </a:rPr>
              <a:t>AIOps research</a:t>
            </a:r>
            <a:endParaRPr lang="en-US" sz="1600" dirty="0"/>
          </a:p>
        </p:txBody>
      </p:sp>
      <p:sp>
        <p:nvSpPr>
          <p:cNvPr id="12" name="Text 9"/>
          <p:cNvSpPr txBox="1"/>
          <p:nvPr/>
        </p:nvSpPr>
        <p:spPr>
          <a:xfrm>
            <a:off x="8275320" y="1920240"/>
            <a:ext cx="3108960" cy="96012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Diagnoses incidents. A human usually applies the fix.</a:t>
            </a:r>
            <a:endParaRPr lang="en-US" sz="1400" dirty="0"/>
          </a:p>
        </p:txBody>
      </p:sp>
      <p:sp>
        <p:nvSpPr>
          <p:cNvPr id="13" name="Position card"/>
          <p:cNvSpPr/>
          <p:nvPr/>
        </p:nvSpPr>
        <p:spPr>
          <a:xfrm>
            <a:off x="548640" y="3200400"/>
            <a:ext cx="11064240" cy="2926080"/>
          </a:xfrm>
          <a:prstGeom prst="roundRect">
            <a:avLst>
              <a:gd name="adj" fmla="val 3750"/>
            </a:avLst>
          </a:prstGeom>
          <a:solidFill>
            <a:srgbClr val="1C2030"/>
          </a:solidFill>
          <a:ln w="12700">
            <a:solidFill>
              <a:srgbClr val="1C2030"/>
            </a:solidFill>
            <a:prstDash val="solid"/>
          </a:ln>
        </p:spPr>
      </p:sp>
      <p:sp>
        <p:nvSpPr>
          <p:cNvPr id="14" name="Text 11"/>
          <p:cNvSpPr txBox="1"/>
          <p:nvPr/>
        </p:nvSpPr>
        <p:spPr>
          <a:xfrm>
            <a:off x="868680" y="3383280"/>
            <a:ext cx="73152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ReviewMind combines all three, small and open</a:t>
            </a:r>
            <a:endParaRPr lang="en-US" sz="2000" dirty="0"/>
          </a:p>
        </p:txBody>
      </p:sp>
      <p:sp>
        <p:nvSpPr>
          <p:cNvPr id="15" name="Text 12"/>
          <p:cNvSpPr txBox="1"/>
          <p:nvPr/>
        </p:nvSpPr>
        <p:spPr>
          <a:xfrm>
            <a:off x="868680" y="3840480"/>
            <a:ext cx="10058400" cy="365760"/>
          </a:xfrm>
          <a:prstGeom prst="rect">
            <a:avLst/>
          </a:prstGeom>
          <a:noFill/>
          <a:ln/>
        </p:spPr>
        <p:txBody>
          <a:bodyPr wrap="square" lIns="0" tIns="0" rIns="0" bIns="0" rtlCol="0" anchor="t"/>
          <a:lstStyle/>
          <a:p>
            <a:pPr indent="0" marL="0">
              <a:buNone/>
            </a:pPr>
            <a:r>
              <a:rPr lang="en-US" sz="1600" dirty="0">
                <a:solidFill>
                  <a:srgbClr val="C9D1E6"/>
                </a:solidFill>
                <a:latin typeface="Calibri" pitchFamily="34" charset="0"/>
                <a:ea typeface="Calibri" pitchFamily="34" charset="-122"/>
                <a:cs typeface="Calibri" pitchFamily="34" charset="-120"/>
              </a:rPr>
              <a:t>Cross-file retrieval + live fault injection + AI repair + a measured evaluation.</a:t>
            </a:r>
            <a:endParaRPr lang="en-US" sz="1600" dirty="0"/>
          </a:p>
        </p:txBody>
      </p:sp>
      <p:sp>
        <p:nvSpPr>
          <p:cNvPr id="16" name="Text 13"/>
          <p:cNvSpPr txBox="1"/>
          <p:nvPr/>
        </p:nvSpPr>
        <p:spPr>
          <a:xfrm>
            <a:off x="868680" y="4434840"/>
            <a:ext cx="2560320" cy="822960"/>
          </a:xfrm>
          <a:prstGeom prst="rect">
            <a:avLst/>
          </a:prstGeom>
          <a:noFill/>
          <a:ln/>
        </p:spPr>
        <p:txBody>
          <a:bodyPr wrap="square" lIns="0" tIns="0" rIns="0" bIns="0" rtlCol="0" anchor="ctr"/>
          <a:lstStyle/>
          <a:p>
            <a:pPr indent="0" marL="0">
              <a:buNone/>
            </a:pPr>
            <a:r>
              <a:rPr lang="en-US" sz="4400" b="1" dirty="0">
                <a:solidFill>
                  <a:srgbClr val="B9C0CF"/>
                </a:solidFill>
                <a:latin typeface="Cambria" pitchFamily="34" charset="0"/>
                <a:ea typeface="Cambria" pitchFamily="34" charset="-122"/>
                <a:cs typeface="Cambria" pitchFamily="34" charset="-120"/>
              </a:rPr>
              <a:t>21.4%</a:t>
            </a:r>
            <a:endParaRPr lang="en-US" sz="4400" dirty="0"/>
          </a:p>
        </p:txBody>
      </p:sp>
      <p:sp>
        <p:nvSpPr>
          <p:cNvPr id="17" name="Text 14"/>
          <p:cNvSpPr txBox="1"/>
          <p:nvPr/>
        </p:nvSpPr>
        <p:spPr>
          <a:xfrm>
            <a:off x="868680" y="5257800"/>
            <a:ext cx="2560320" cy="365760"/>
          </a:xfrm>
          <a:prstGeom prst="rect">
            <a:avLst/>
          </a:prstGeom>
          <a:noFill/>
          <a:ln/>
        </p:spPr>
        <p:txBody>
          <a:bodyPr wrap="square" lIns="0" tIns="0" rIns="0" bIns="0" rtlCol="0" anchor="t"/>
          <a:lstStyle/>
          <a:p>
            <a:pPr indent="0" marL="0">
              <a:buNone/>
            </a:pPr>
            <a:r>
              <a:rPr lang="en-US" sz="1400" dirty="0">
                <a:solidFill>
                  <a:srgbClr val="C9D1E6"/>
                </a:solidFill>
                <a:latin typeface="Calibri" pitchFamily="34" charset="0"/>
                <a:ea typeface="Calibri" pitchFamily="34" charset="-122"/>
                <a:cs typeface="Calibri" pitchFamily="34" charset="-120"/>
              </a:rPr>
              <a:t>static tools (ruff + bandit)</a:t>
            </a:r>
            <a:endParaRPr lang="en-US" sz="1400" dirty="0"/>
          </a:p>
        </p:txBody>
      </p:sp>
      <p:sp>
        <p:nvSpPr>
          <p:cNvPr id="18" name="Text 15"/>
          <p:cNvSpPr txBox="1"/>
          <p:nvPr/>
        </p:nvSpPr>
        <p:spPr>
          <a:xfrm>
            <a:off x="3703320" y="4434840"/>
            <a:ext cx="2560320" cy="822960"/>
          </a:xfrm>
          <a:prstGeom prst="rect">
            <a:avLst/>
          </a:prstGeom>
          <a:noFill/>
          <a:ln/>
        </p:spPr>
        <p:txBody>
          <a:bodyPr wrap="square" lIns="0" tIns="0" rIns="0" bIns="0" rtlCol="0" anchor="ctr"/>
          <a:lstStyle/>
          <a:p>
            <a:pPr indent="0" marL="0">
              <a:buNone/>
            </a:pPr>
            <a:r>
              <a:rPr lang="en-US" sz="4400" b="1" dirty="0">
                <a:solidFill>
                  <a:srgbClr val="F59E0B"/>
                </a:solidFill>
                <a:latin typeface="Cambria" pitchFamily="34" charset="0"/>
                <a:ea typeface="Cambria" pitchFamily="34" charset="-122"/>
                <a:cs typeface="Cambria" pitchFamily="34" charset="-120"/>
              </a:rPr>
              <a:t>78.6%</a:t>
            </a:r>
            <a:endParaRPr lang="en-US" sz="4400" dirty="0"/>
          </a:p>
        </p:txBody>
      </p:sp>
      <p:sp>
        <p:nvSpPr>
          <p:cNvPr id="19" name="Text 16"/>
          <p:cNvSpPr txBox="1"/>
          <p:nvPr/>
        </p:nvSpPr>
        <p:spPr>
          <a:xfrm>
            <a:off x="3703320" y="5257800"/>
            <a:ext cx="2560320" cy="365760"/>
          </a:xfrm>
          <a:prstGeom prst="rect">
            <a:avLst/>
          </a:prstGeom>
          <a:noFill/>
          <a:ln/>
        </p:spPr>
        <p:txBody>
          <a:bodyPr wrap="square" lIns="0" tIns="0" rIns="0" bIns="0" rtlCol="0" anchor="t"/>
          <a:lstStyle/>
          <a:p>
            <a:pPr indent="0" marL="0">
              <a:buNone/>
            </a:pPr>
            <a:r>
              <a:rPr lang="en-US" sz="1400" dirty="0">
                <a:solidFill>
                  <a:srgbClr val="C9D1E6"/>
                </a:solidFill>
                <a:latin typeface="Calibri" pitchFamily="34" charset="0"/>
                <a:ea typeface="Calibri" pitchFamily="34" charset="-122"/>
                <a:cs typeface="Calibri" pitchFamily="34" charset="-120"/>
              </a:rPr>
              <a:t>LLM, diff only</a:t>
            </a:r>
            <a:endParaRPr lang="en-US" sz="1400" dirty="0"/>
          </a:p>
        </p:txBody>
      </p:sp>
      <p:sp>
        <p:nvSpPr>
          <p:cNvPr id="20" name="Text 17"/>
          <p:cNvSpPr txBox="1"/>
          <p:nvPr/>
        </p:nvSpPr>
        <p:spPr>
          <a:xfrm>
            <a:off x="6537960" y="4434840"/>
            <a:ext cx="2560320" cy="822960"/>
          </a:xfrm>
          <a:prstGeom prst="rect">
            <a:avLst/>
          </a:prstGeom>
          <a:noFill/>
          <a:ln/>
        </p:spPr>
        <p:txBody>
          <a:bodyPr wrap="square" lIns="0" tIns="0" rIns="0" bIns="0" rtlCol="0" anchor="ctr"/>
          <a:lstStyle/>
          <a:p>
            <a:pPr indent="0" marL="0">
              <a:buNone/>
            </a:pPr>
            <a:r>
              <a:rPr lang="en-US" sz="4400" b="1" dirty="0">
                <a:solidFill>
                  <a:srgbClr val="14B8A6"/>
                </a:solidFill>
                <a:latin typeface="Cambria" pitchFamily="34" charset="0"/>
                <a:ea typeface="Cambria" pitchFamily="34" charset="-122"/>
                <a:cs typeface="Cambria" pitchFamily="34" charset="-120"/>
              </a:rPr>
              <a:t>100%</a:t>
            </a:r>
            <a:endParaRPr lang="en-US" sz="4400" dirty="0"/>
          </a:p>
        </p:txBody>
      </p:sp>
      <p:sp>
        <p:nvSpPr>
          <p:cNvPr id="21" name="Text 18"/>
          <p:cNvSpPr txBox="1"/>
          <p:nvPr/>
        </p:nvSpPr>
        <p:spPr>
          <a:xfrm>
            <a:off x="6537960" y="5257800"/>
            <a:ext cx="2560320" cy="365760"/>
          </a:xfrm>
          <a:prstGeom prst="rect">
            <a:avLst/>
          </a:prstGeom>
          <a:noFill/>
          <a:ln/>
        </p:spPr>
        <p:txBody>
          <a:bodyPr wrap="square" lIns="0" tIns="0" rIns="0" bIns="0" rtlCol="0" anchor="t"/>
          <a:lstStyle/>
          <a:p>
            <a:pPr indent="0" marL="0">
              <a:buNone/>
            </a:pPr>
            <a:r>
              <a:rPr lang="en-US" sz="1400" dirty="0">
                <a:solidFill>
                  <a:srgbClr val="C9D1E6"/>
                </a:solidFill>
                <a:latin typeface="Calibri" pitchFamily="34" charset="0"/>
                <a:ea typeface="Calibri" pitchFamily="34" charset="-122"/>
                <a:cs typeface="Calibri" pitchFamily="34" charset="-120"/>
              </a:rPr>
              <a:t>LLM + retrieval</a:t>
            </a:r>
            <a:endParaRPr lang="en-US" sz="1400" dirty="0"/>
          </a:p>
        </p:txBody>
      </p:sp>
      <p:sp>
        <p:nvSpPr>
          <p:cNvPr id="22" name="Text 19"/>
          <p:cNvSpPr txBox="1"/>
          <p:nvPr/>
        </p:nvSpPr>
        <p:spPr>
          <a:xfrm>
            <a:off x="868680" y="5715000"/>
            <a:ext cx="10058400" cy="320040"/>
          </a:xfrm>
          <a:prstGeom prst="rect">
            <a:avLst/>
          </a:prstGeom>
          <a:noFill/>
          <a:ln/>
        </p:spPr>
        <p:txBody>
          <a:bodyPr wrap="square" lIns="0" tIns="0" rIns="0" bIns="0" rtlCol="0" anchor="t"/>
          <a:lstStyle/>
          <a:p>
            <a:pPr indent="0" marL="0">
              <a:buNone/>
            </a:pPr>
            <a:r>
              <a:rPr lang="en-US" sz="1200" dirty="0">
                <a:solidFill>
                  <a:srgbClr val="8A93AB"/>
                </a:solidFill>
                <a:latin typeface="Calibri" pitchFamily="34" charset="0"/>
                <a:ea typeface="Calibri" pitchFamily="34" charset="-122"/>
                <a:cs typeface="Calibri" pitchFamily="34" charset="-120"/>
              </a:rPr>
              <a:t>Phase 1 semantic recall on 14 seeded defects. n = 4 in the decisive cell; no significance claimed.</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Corporate comparison</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2286000"/>
                <a:gridCol w="1783080"/>
                <a:gridCol w="1783080"/>
                <a:gridCol w="1783080"/>
                <a:gridCol w="1691640"/>
              </a:tblGrid>
              <a:tr h="502920">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1C20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ReviewMind (ours)</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1C20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GitHub Copilot review</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1C20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CodeRabbit</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1C20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Qodo Merge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1C20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Datadog Bits AI SRE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1C2030"/>
                    </a:solidFill>
                  </a:tcPr>
                </a:tc>
              </a:tr>
              <a:tr h="640080">
                <a:tc>
                  <a:txBody>
                    <a:bodyPr/>
                    <a:lstStyle/>
                    <a:p>
                      <a:pPr indent="0" marL="0">
                        <a:buNone/>
                      </a:pPr>
                      <a:r>
                        <a:rPr lang="en-US" sz="1300" b="1" dirty="0">
                          <a:solidFill>
                            <a:srgbClr val="1B2030"/>
                          </a:solidFill>
                          <a:latin typeface="Calibri" pitchFamily="34" charset="0"/>
                          <a:ea typeface="Calibri" pitchFamily="34" charset="-122"/>
                          <a:cs typeface="Calibri" pitchFamily="34" charset="-120"/>
                        </a:rPr>
                        <a:t>Main job</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2F4F8"/>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 review + self-healing demo</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DDF5F1"/>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In-GitHub PR review</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 review, inline comments</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 review, test generation</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Alert investigation, root cause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030"/>
                          </a:solidFill>
                          <a:latin typeface="Calibri" pitchFamily="34" charset="0"/>
                          <a:ea typeface="Calibri" pitchFamily="34" charset="-122"/>
                          <a:cs typeface="Calibri" pitchFamily="34" charset="-120"/>
                        </a:rPr>
                        <a:t>Cross-file context</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2F4F8"/>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Call-graph retrieval, measured</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DDF5F1"/>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Mostly single-PR</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Mostly diff-centric</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Retrieval over codebase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Telemetry + source code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030"/>
                          </a:solidFill>
                          <a:latin typeface="Calibri" pitchFamily="34" charset="0"/>
                          <a:ea typeface="Calibri" pitchFamily="34" charset="-122"/>
                          <a:cs typeface="Calibri" pitchFamily="34" charset="-120"/>
                        </a:rPr>
                        <a:t>Acts on live services</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2F4F8"/>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Yes: hot-patch (demo scope)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DDF5F1"/>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Suggested fixes in PR</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Suggested fixes in PR</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Fix PRs; rollbacks in preview</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030"/>
                          </a:solidFill>
                          <a:latin typeface="Calibri" pitchFamily="34" charset="0"/>
                          <a:ea typeface="Calibri" pitchFamily="34" charset="-122"/>
                          <a:cs typeface="Calibri" pitchFamily="34" charset="-120"/>
                        </a:rPr>
                        <a:t>Open / self-hostable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2F4F8"/>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Yes; runs on free tier</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DDF5F1"/>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No (SaaS)</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No (SaaS)</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Open-source core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No (SaaS)</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030"/>
                          </a:solidFill>
                          <a:latin typeface="Calibri" pitchFamily="34" charset="0"/>
                          <a:ea typeface="Calibri" pitchFamily="34" charset="-122"/>
                          <a:cs typeface="Calibri" pitchFamily="34" charset="-120"/>
                        </a:rPr>
                        <a:t>Published evaluation</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2F4F8"/>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Yes, with failure analysis (n=14)</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DDF5F1"/>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Vendor-reported</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Vendor-reported</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Vendor-reported</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Vendor-reported</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030"/>
                          </a:solidFill>
                          <a:latin typeface="Calibri" pitchFamily="34" charset="0"/>
                          <a:ea typeface="Calibri" pitchFamily="34" charset="-122"/>
                          <a:cs typeface="Calibri" pitchFamily="34" charset="-120"/>
                        </a:rPr>
                        <a:t>Maturity</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2F4F8"/>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Research prototype</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DDF5F1"/>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Production</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Production</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Production</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030"/>
                          </a:solidFill>
                          <a:latin typeface="Calibri" pitchFamily="34" charset="0"/>
                          <a:ea typeface="Calibri" pitchFamily="34" charset="-122"/>
                          <a:cs typeface="Calibri" pitchFamily="34" charset="-120"/>
                        </a:rPr>
                        <a:t>Production</a:t>
                      </a:r>
                      <a:endParaRPr lang="en-US" sz="1300" dirty="0">
                        <a:latin typeface="Calibri" charset="0"/>
                        <a:ea typeface="Calibri" charset="0"/>
                        <a:cs typeface="Calibri" charset="0"/>
                      </a:endParaRPr>
                    </a:p>
                  </a:txBody>
                  <a:tcPr marL="91440" marR="91440" marT="45720" marB="45720" anchor="ctr">
                    <a:lnL w="9525" cap="flat" cmpd="sng" algn="ctr">
                      <a:solidFill>
                        <a:srgbClr val="D9DDE6"/>
                      </a:solidFill>
                      <a:prstDash val="solid"/>
                      <a:round/>
                      <a:headEnd type="none" w="med" len="med"/>
                      <a:tailEnd type="none" w="med" len="med"/>
                    </a:lnL>
                    <a:lnR w="9525" cap="flat" cmpd="sng" algn="ctr">
                      <a:solidFill>
                        <a:srgbClr val="D9DDE6"/>
                      </a:solidFill>
                      <a:prstDash val="solid"/>
                      <a:round/>
                      <a:headEnd type="none" w="med" len="med"/>
                      <a:tailEnd type="none" w="med" len="med"/>
                    </a:lnR>
                    <a:lnT w="9525" cap="flat" cmpd="sng" algn="ctr">
                      <a:solidFill>
                        <a:srgbClr val="D9DDE6"/>
                      </a:solidFill>
                      <a:prstDash val="solid"/>
                      <a:round/>
                      <a:headEnd type="none" w="med" len="med"/>
                      <a:tailEnd type="none" w="med" len="med"/>
                    </a:lnT>
                    <a:lnB w="9525" cap="flat" cmpd="sng" algn="ctr">
                      <a:solidFill>
                        <a:srgbClr val="D9DD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Competitor columns summarise vendor docs and third-party reviews (Oct 2026). Verify before quoting.</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Where we stand: strengths and limits</a:t>
            </a:r>
            <a:endParaRPr lang="en-US" sz="3200" dirty="0"/>
          </a:p>
        </p:txBody>
      </p:sp>
      <p:sp>
        <p:nvSpPr>
          <p:cNvPr id="4" name="Column card"/>
          <p:cNvSpPr/>
          <p:nvPr/>
        </p:nvSpPr>
        <p:spPr>
          <a:xfrm>
            <a:off x="548640" y="1371600"/>
            <a:ext cx="5440680" cy="3931920"/>
          </a:xfrm>
          <a:prstGeom prst="roundRect">
            <a:avLst>
              <a:gd name="adj" fmla="val 2791"/>
            </a:avLst>
          </a:prstGeom>
          <a:solidFill>
            <a:srgbClr val="F2F4F8"/>
          </a:solidFill>
          <a:ln w="12700">
            <a:solidFill>
              <a:srgbClr val="F2F4F8"/>
            </a:solidFill>
            <a:prstDash val="solid"/>
          </a:ln>
        </p:spPr>
      </p:sp>
      <p:sp>
        <p:nvSpPr>
          <p:cNvPr id="5" name="Shape 2"/>
          <p:cNvSpPr/>
          <p:nvPr/>
        </p:nvSpPr>
        <p:spPr>
          <a:xfrm>
            <a:off x="822960" y="1554480"/>
            <a:ext cx="457200" cy="457200"/>
          </a:xfrm>
          <a:prstGeom prst="ellipse">
            <a:avLst/>
          </a:prstGeom>
          <a:solidFill>
            <a:srgbClr val="14B8A6"/>
          </a:solidFill>
          <a:ln w="12700">
            <a:solidFill>
              <a:srgbClr val="14B8A6"/>
            </a:solidFill>
            <a:prstDash val="solid"/>
          </a:ln>
        </p:spPr>
      </p:sp>
      <p:sp>
        <p:nvSpPr>
          <p:cNvPr id="6" name="Text 3"/>
          <p:cNvSpPr txBox="1"/>
          <p:nvPr/>
        </p:nvSpPr>
        <p:spPr>
          <a:xfrm>
            <a:off x="82296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1463040" y="1554480"/>
            <a:ext cx="3657600" cy="457200"/>
          </a:xfrm>
          <a:prstGeom prst="rect">
            <a:avLst/>
          </a:prstGeom>
          <a:noFill/>
          <a:ln/>
        </p:spPr>
        <p:txBody>
          <a:bodyPr wrap="square" lIns="0" tIns="0" rIns="0" bIns="0" rtlCol="0" anchor="ctr"/>
          <a:lstStyle/>
          <a:p>
            <a:pPr indent="0" marL="0">
              <a:buNone/>
            </a:pPr>
            <a:r>
              <a:rPr lang="en-US" sz="2200" b="1" dirty="0">
                <a:solidFill>
                  <a:srgbClr val="1B2030"/>
                </a:solidFill>
                <a:latin typeface="Calibri" pitchFamily="34" charset="0"/>
                <a:ea typeface="Calibri" pitchFamily="34" charset="-122"/>
                <a:cs typeface="Calibri" pitchFamily="34" charset="-120"/>
              </a:rPr>
              <a:t>Strengths</a:t>
            </a:r>
            <a:endParaRPr lang="en-US" sz="2200" dirty="0"/>
          </a:p>
        </p:txBody>
      </p:sp>
      <p:sp>
        <p:nvSpPr>
          <p:cNvPr id="8" name="Text 5"/>
          <p:cNvSpPr txBox="1"/>
          <p:nvPr/>
        </p:nvSpPr>
        <p:spPr>
          <a:xfrm>
            <a:off x="868680" y="2240280"/>
            <a:ext cx="4846320"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Open and self-hostable; runs on the free Groq tier.</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Evaluated, with a written failure analysis.</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Cheap: one small file per repair, about 1.4k tokens.</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Resilient to quota: three keys, two models each.</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A broken service degrades the shop gracefully instead of crashing it.</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Every incident becomes a GitHub PR with an inline review comment on the faulty line.</a:t>
            </a:r>
            <a:endParaRPr lang="en-US" sz="1500" dirty="0"/>
          </a:p>
        </p:txBody>
      </p:sp>
      <p:sp>
        <p:nvSpPr>
          <p:cNvPr id="9" name="Column card"/>
          <p:cNvSpPr/>
          <p:nvPr/>
        </p:nvSpPr>
        <p:spPr>
          <a:xfrm>
            <a:off x="6172200" y="1371600"/>
            <a:ext cx="5440680" cy="3931920"/>
          </a:xfrm>
          <a:prstGeom prst="roundRect">
            <a:avLst>
              <a:gd name="adj" fmla="val 2791"/>
            </a:avLst>
          </a:prstGeom>
          <a:solidFill>
            <a:srgbClr val="F2F4F8"/>
          </a:solidFill>
          <a:ln w="12700">
            <a:solidFill>
              <a:srgbClr val="F2F4F8"/>
            </a:solidFill>
            <a:prstDash val="solid"/>
          </a:ln>
        </p:spPr>
      </p:sp>
      <p:sp>
        <p:nvSpPr>
          <p:cNvPr id="10" name="Shape 7"/>
          <p:cNvSpPr/>
          <p:nvPr/>
        </p:nvSpPr>
        <p:spPr>
          <a:xfrm>
            <a:off x="6446520" y="1554480"/>
            <a:ext cx="457200" cy="457200"/>
          </a:xfrm>
          <a:prstGeom prst="ellipse">
            <a:avLst/>
          </a:prstGeom>
          <a:solidFill>
            <a:srgbClr val="F59E0B"/>
          </a:solidFill>
          <a:ln w="12700">
            <a:solidFill>
              <a:srgbClr val="F59E0B"/>
            </a:solidFill>
            <a:prstDash val="solid"/>
          </a:ln>
        </p:spPr>
      </p:sp>
      <p:sp>
        <p:nvSpPr>
          <p:cNvPr id="11" name="Text 8"/>
          <p:cNvSpPr txBox="1"/>
          <p:nvPr/>
        </p:nvSpPr>
        <p:spPr>
          <a:xfrm>
            <a:off x="64465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7086600" y="1554480"/>
            <a:ext cx="3657600" cy="457200"/>
          </a:xfrm>
          <a:prstGeom prst="rect">
            <a:avLst/>
          </a:prstGeom>
          <a:noFill/>
          <a:ln/>
        </p:spPr>
        <p:txBody>
          <a:bodyPr wrap="square" lIns="0" tIns="0" rIns="0" bIns="0" rtlCol="0" anchor="ctr"/>
          <a:lstStyle/>
          <a:p>
            <a:pPr indent="0" marL="0">
              <a:buNone/>
            </a:pPr>
            <a:r>
              <a:rPr lang="en-US" sz="2200" b="1" dirty="0">
                <a:solidFill>
                  <a:srgbClr val="1B2030"/>
                </a:solidFill>
                <a:latin typeface="Calibri" pitchFamily="34" charset="0"/>
                <a:ea typeface="Calibri" pitchFamily="34" charset="-122"/>
                <a:cs typeface="Calibri" pitchFamily="34" charset="-120"/>
              </a:rPr>
              <a:t>Limits</a:t>
            </a:r>
            <a:endParaRPr lang="en-US" sz="2200" dirty="0"/>
          </a:p>
        </p:txBody>
      </p:sp>
      <p:sp>
        <p:nvSpPr>
          <p:cNvPr id="13" name="Text 10"/>
          <p:cNvSpPr txBox="1"/>
          <p:nvPr/>
        </p:nvSpPr>
        <p:spPr>
          <a:xfrm>
            <a:off x="6492240" y="2240280"/>
            <a:ext cx="4846320"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Five small services and 15 hand-written faults, not real incidents.</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Single-file fixes only; no multi-service patches.</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Incident PRs are a record: the live fix does not wait for human approval.</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No canary or automatic rollback yet.</a:t>
            </a:r>
            <a:endParaRPr lang="en-US" sz="1500" dirty="0"/>
          </a:p>
          <a:p>
            <a:pPr marL="342900" indent="-342900">
              <a:spcAft>
                <a:spcPts val="900"/>
              </a:spcAft>
              <a:buSzPct val="100000"/>
              <a:buChar char="•"/>
            </a:pPr>
            <a:r>
              <a:rPr lang="en-US" sz="1500" dirty="0">
                <a:solidFill>
                  <a:srgbClr val="1B2030"/>
                </a:solidFill>
                <a:latin typeface="Calibri" pitchFamily="34" charset="0"/>
                <a:ea typeface="Calibri" pitchFamily="34" charset="-122"/>
                <a:cs typeface="Calibri" pitchFamily="34" charset="-120"/>
              </a:rPr>
              <a:t>Python only; small evaluation (n = 14 in Phase 1).</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Future scope: the next three months</a:t>
            </a:r>
            <a:endParaRPr lang="en-US" sz="3200" dirty="0"/>
          </a:p>
        </p:txBody>
      </p:sp>
      <p:sp>
        <p:nvSpPr>
          <p:cNvPr id="4" name="Idea card"/>
          <p:cNvSpPr/>
          <p:nvPr/>
        </p:nvSpPr>
        <p:spPr>
          <a:xfrm>
            <a:off x="548640" y="1417320"/>
            <a:ext cx="3566160" cy="2194560"/>
          </a:xfrm>
          <a:prstGeom prst="roundRect">
            <a:avLst>
              <a:gd name="adj" fmla="val 5000"/>
            </a:avLst>
          </a:prstGeom>
          <a:solidFill>
            <a:srgbClr val="F2F4F8"/>
          </a:solidFill>
          <a:ln w="12700">
            <a:solidFill>
              <a:srgbClr val="F2F4F8"/>
            </a:solidFill>
            <a:prstDash val="solid"/>
          </a:ln>
        </p:spPr>
      </p:sp>
      <p:sp>
        <p:nvSpPr>
          <p:cNvPr id="5" name="Shape 2"/>
          <p:cNvSpPr/>
          <p:nvPr/>
        </p:nvSpPr>
        <p:spPr>
          <a:xfrm>
            <a:off x="777240" y="1618488"/>
            <a:ext cx="457200" cy="457200"/>
          </a:xfrm>
          <a:prstGeom prst="ellipse">
            <a:avLst/>
          </a:prstGeom>
          <a:solidFill>
            <a:srgbClr val="F59E0B"/>
          </a:solidFill>
          <a:ln w="12700">
            <a:solidFill>
              <a:srgbClr val="F59E0B"/>
            </a:solidFill>
            <a:prstDash val="solid"/>
          </a:ln>
        </p:spPr>
      </p:sp>
      <p:sp>
        <p:nvSpPr>
          <p:cNvPr id="6" name="Text 3"/>
          <p:cNvSpPr txBox="1"/>
          <p:nvPr/>
        </p:nvSpPr>
        <p:spPr>
          <a:xfrm>
            <a:off x="77724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618488"/>
            <a:ext cx="2606040" cy="457200"/>
          </a:xfrm>
          <a:prstGeom prst="rect">
            <a:avLst/>
          </a:prstGeom>
          <a:noFill/>
          <a:ln/>
        </p:spPr>
        <p:txBody>
          <a:bodyPr wrap="square" lIns="0" tIns="0" rIns="0" bIns="0" rtlCol="0" anchor="ctr"/>
          <a:lstStyle/>
          <a:p>
            <a:pPr indent="0" marL="0">
              <a:buNone/>
            </a:pPr>
            <a:r>
              <a:rPr lang="en-US" sz="1700" b="1" dirty="0">
                <a:solidFill>
                  <a:srgbClr val="1B2030"/>
                </a:solidFill>
                <a:latin typeface="Calibri" pitchFamily="34" charset="0"/>
                <a:ea typeface="Calibri" pitchFamily="34" charset="-122"/>
                <a:cs typeface="Calibri" pitchFamily="34" charset="-120"/>
              </a:rPr>
              <a:t>Approval gate</a:t>
            </a:r>
            <a:endParaRPr lang="en-US" sz="1700" dirty="0"/>
          </a:p>
        </p:txBody>
      </p:sp>
      <p:sp>
        <p:nvSpPr>
          <p:cNvPr id="8" name="Text 5"/>
          <p:cNvSpPr txBox="1"/>
          <p:nvPr/>
        </p:nvSpPr>
        <p:spPr>
          <a:xfrm>
            <a:off x="777240" y="2286000"/>
            <a:ext cx="3108960" cy="12344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Hold the live fix until a human approves the incident PR. Today the PR is a record, not a gate.</a:t>
            </a:r>
            <a:endParaRPr lang="en-US" sz="1400" dirty="0"/>
          </a:p>
        </p:txBody>
      </p:sp>
      <p:sp>
        <p:nvSpPr>
          <p:cNvPr id="9" name="Idea card"/>
          <p:cNvSpPr/>
          <p:nvPr/>
        </p:nvSpPr>
        <p:spPr>
          <a:xfrm>
            <a:off x="4297680" y="1417320"/>
            <a:ext cx="3566160" cy="2194560"/>
          </a:xfrm>
          <a:prstGeom prst="roundRect">
            <a:avLst>
              <a:gd name="adj" fmla="val 5000"/>
            </a:avLst>
          </a:prstGeom>
          <a:solidFill>
            <a:srgbClr val="F2F4F8"/>
          </a:solidFill>
          <a:ln w="12700">
            <a:solidFill>
              <a:srgbClr val="F2F4F8"/>
            </a:solidFill>
            <a:prstDash val="solid"/>
          </a:ln>
        </p:spPr>
      </p:sp>
      <p:sp>
        <p:nvSpPr>
          <p:cNvPr id="10" name="Shape 7"/>
          <p:cNvSpPr/>
          <p:nvPr/>
        </p:nvSpPr>
        <p:spPr>
          <a:xfrm>
            <a:off x="4526280" y="1618488"/>
            <a:ext cx="457200" cy="457200"/>
          </a:xfrm>
          <a:prstGeom prst="ellipse">
            <a:avLst/>
          </a:prstGeom>
          <a:solidFill>
            <a:srgbClr val="14B8A6"/>
          </a:solidFill>
          <a:ln w="12700">
            <a:solidFill>
              <a:srgbClr val="14B8A6"/>
            </a:solidFill>
            <a:prstDash val="solid"/>
          </a:ln>
        </p:spPr>
      </p:sp>
      <p:sp>
        <p:nvSpPr>
          <p:cNvPr id="11" name="Text 8"/>
          <p:cNvSpPr txBox="1"/>
          <p:nvPr/>
        </p:nvSpPr>
        <p:spPr>
          <a:xfrm>
            <a:off x="452628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5120640" y="1618488"/>
            <a:ext cx="2606040" cy="457200"/>
          </a:xfrm>
          <a:prstGeom prst="rect">
            <a:avLst/>
          </a:prstGeom>
          <a:noFill/>
          <a:ln/>
        </p:spPr>
        <p:txBody>
          <a:bodyPr wrap="square" lIns="0" tIns="0" rIns="0" bIns="0" rtlCol="0" anchor="ctr"/>
          <a:lstStyle/>
          <a:p>
            <a:pPr indent="0" marL="0">
              <a:buNone/>
            </a:pPr>
            <a:r>
              <a:rPr lang="en-US" sz="1700" b="1" dirty="0">
                <a:solidFill>
                  <a:srgbClr val="1B2030"/>
                </a:solidFill>
                <a:latin typeface="Calibri" pitchFamily="34" charset="0"/>
                <a:ea typeface="Calibri" pitchFamily="34" charset="-122"/>
                <a:cs typeface="Calibri" pitchFamily="34" charset="-120"/>
              </a:rPr>
              <a:t>A much bigger benchmark</a:t>
            </a:r>
            <a:endParaRPr lang="en-US" sz="1700" dirty="0"/>
          </a:p>
        </p:txBody>
      </p:sp>
      <p:sp>
        <p:nvSpPr>
          <p:cNvPr id="13" name="Text 10"/>
          <p:cNvSpPr txBox="1"/>
          <p:nvPr/>
        </p:nvSpPr>
        <p:spPr>
          <a:xfrm>
            <a:off x="4526280" y="2286000"/>
            <a:ext cx="3108960" cy="12344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100+ faults and repeated runs, so results can carry confidence intervals.</a:t>
            </a:r>
            <a:endParaRPr lang="en-US" sz="1400" dirty="0"/>
          </a:p>
        </p:txBody>
      </p:sp>
      <p:sp>
        <p:nvSpPr>
          <p:cNvPr id="14" name="Idea card"/>
          <p:cNvSpPr/>
          <p:nvPr/>
        </p:nvSpPr>
        <p:spPr>
          <a:xfrm>
            <a:off x="8046720" y="1417320"/>
            <a:ext cx="3566160" cy="2194560"/>
          </a:xfrm>
          <a:prstGeom prst="roundRect">
            <a:avLst>
              <a:gd name="adj" fmla="val 5000"/>
            </a:avLst>
          </a:prstGeom>
          <a:solidFill>
            <a:srgbClr val="F2F4F8"/>
          </a:solidFill>
          <a:ln w="12700">
            <a:solidFill>
              <a:srgbClr val="F2F4F8"/>
            </a:solidFill>
            <a:prstDash val="solid"/>
          </a:ln>
        </p:spPr>
      </p:sp>
      <p:sp>
        <p:nvSpPr>
          <p:cNvPr id="15" name="Shape 12"/>
          <p:cNvSpPr/>
          <p:nvPr/>
        </p:nvSpPr>
        <p:spPr>
          <a:xfrm>
            <a:off x="8275320" y="1618488"/>
            <a:ext cx="457200" cy="457200"/>
          </a:xfrm>
          <a:prstGeom prst="ellipse">
            <a:avLst/>
          </a:prstGeom>
          <a:solidFill>
            <a:srgbClr val="14B8A6"/>
          </a:solidFill>
          <a:ln w="12700">
            <a:solidFill>
              <a:srgbClr val="14B8A6"/>
            </a:solidFill>
            <a:prstDash val="solid"/>
          </a:ln>
        </p:spPr>
      </p:sp>
      <p:sp>
        <p:nvSpPr>
          <p:cNvPr id="16" name="Text 13"/>
          <p:cNvSpPr txBox="1"/>
          <p:nvPr/>
        </p:nvSpPr>
        <p:spPr>
          <a:xfrm>
            <a:off x="82753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8869680" y="1618488"/>
            <a:ext cx="2606040" cy="457200"/>
          </a:xfrm>
          <a:prstGeom prst="rect">
            <a:avLst/>
          </a:prstGeom>
          <a:noFill/>
          <a:ln/>
        </p:spPr>
        <p:txBody>
          <a:bodyPr wrap="square" lIns="0" tIns="0" rIns="0" bIns="0" rtlCol="0" anchor="ctr"/>
          <a:lstStyle/>
          <a:p>
            <a:pPr indent="0" marL="0">
              <a:buNone/>
            </a:pPr>
            <a:r>
              <a:rPr lang="en-US" sz="1700" b="1" dirty="0">
                <a:solidFill>
                  <a:srgbClr val="1B2030"/>
                </a:solidFill>
                <a:latin typeface="Calibri" pitchFamily="34" charset="0"/>
                <a:ea typeface="Calibri" pitchFamily="34" charset="-122"/>
                <a:cs typeface="Calibri" pitchFamily="34" charset="-120"/>
              </a:rPr>
              <a:t>Real telemetry</a:t>
            </a:r>
            <a:endParaRPr lang="en-US" sz="1700" dirty="0"/>
          </a:p>
        </p:txBody>
      </p:sp>
      <p:sp>
        <p:nvSpPr>
          <p:cNvPr id="18" name="Text 15"/>
          <p:cNvSpPr txBox="1"/>
          <p:nvPr/>
        </p:nvSpPr>
        <p:spPr>
          <a:xfrm>
            <a:off x="8275320" y="2286000"/>
            <a:ext cx="3108960" cy="12344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Feed OpenTelemetry logs and traces into the diagnosis instead of probes alone.</a:t>
            </a:r>
            <a:endParaRPr lang="en-US" sz="1400" dirty="0"/>
          </a:p>
        </p:txBody>
      </p:sp>
      <p:sp>
        <p:nvSpPr>
          <p:cNvPr id="19" name="Idea card"/>
          <p:cNvSpPr/>
          <p:nvPr/>
        </p:nvSpPr>
        <p:spPr>
          <a:xfrm>
            <a:off x="548640" y="3794760"/>
            <a:ext cx="3566160" cy="2194560"/>
          </a:xfrm>
          <a:prstGeom prst="roundRect">
            <a:avLst>
              <a:gd name="adj" fmla="val 5000"/>
            </a:avLst>
          </a:prstGeom>
          <a:solidFill>
            <a:srgbClr val="F2F4F8"/>
          </a:solidFill>
          <a:ln w="12700">
            <a:solidFill>
              <a:srgbClr val="F2F4F8"/>
            </a:solidFill>
            <a:prstDash val="solid"/>
          </a:ln>
        </p:spPr>
      </p:sp>
      <p:sp>
        <p:nvSpPr>
          <p:cNvPr id="20" name="Shape 17"/>
          <p:cNvSpPr/>
          <p:nvPr/>
        </p:nvSpPr>
        <p:spPr>
          <a:xfrm>
            <a:off x="777240" y="3995928"/>
            <a:ext cx="457200" cy="457200"/>
          </a:xfrm>
          <a:prstGeom prst="ellipse">
            <a:avLst/>
          </a:prstGeom>
          <a:solidFill>
            <a:srgbClr val="14B8A6"/>
          </a:solidFill>
          <a:ln w="12700">
            <a:solidFill>
              <a:srgbClr val="14B8A6"/>
            </a:solidFill>
            <a:prstDash val="solid"/>
          </a:ln>
        </p:spPr>
      </p:sp>
      <p:sp>
        <p:nvSpPr>
          <p:cNvPr id="21" name="Text 18"/>
          <p:cNvSpPr txBox="1"/>
          <p:nvPr/>
        </p:nvSpPr>
        <p:spPr>
          <a:xfrm>
            <a:off x="777240" y="3995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371600" y="3995928"/>
            <a:ext cx="2606040" cy="457200"/>
          </a:xfrm>
          <a:prstGeom prst="rect">
            <a:avLst/>
          </a:prstGeom>
          <a:noFill/>
          <a:ln/>
        </p:spPr>
        <p:txBody>
          <a:bodyPr wrap="square" lIns="0" tIns="0" rIns="0" bIns="0" rtlCol="0" anchor="ctr"/>
          <a:lstStyle/>
          <a:p>
            <a:pPr indent="0" marL="0">
              <a:buNone/>
            </a:pPr>
            <a:r>
              <a:rPr lang="en-US" sz="1700" b="1" dirty="0">
                <a:solidFill>
                  <a:srgbClr val="1B2030"/>
                </a:solidFill>
                <a:latin typeface="Calibri" pitchFamily="34" charset="0"/>
                <a:ea typeface="Calibri" pitchFamily="34" charset="-122"/>
                <a:cs typeface="Calibri" pitchFamily="34" charset="-120"/>
              </a:rPr>
              <a:t>Verified repairs</a:t>
            </a:r>
            <a:endParaRPr lang="en-US" sz="1700" dirty="0"/>
          </a:p>
        </p:txBody>
      </p:sp>
      <p:sp>
        <p:nvSpPr>
          <p:cNvPr id="23" name="Text 20"/>
          <p:cNvSpPr txBox="1"/>
          <p:nvPr/>
        </p:nvSpPr>
        <p:spPr>
          <a:xfrm>
            <a:off x="777240" y="4663440"/>
            <a:ext cx="3108960" cy="12344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Generated tests (Qodo cover-agent) as the oracle, ending probe overfitting.</a:t>
            </a:r>
            <a:endParaRPr lang="en-US" sz="1400" dirty="0"/>
          </a:p>
        </p:txBody>
      </p:sp>
      <p:sp>
        <p:nvSpPr>
          <p:cNvPr id="24" name="Idea card"/>
          <p:cNvSpPr/>
          <p:nvPr/>
        </p:nvSpPr>
        <p:spPr>
          <a:xfrm>
            <a:off x="4297680" y="3794760"/>
            <a:ext cx="3566160" cy="2194560"/>
          </a:xfrm>
          <a:prstGeom prst="roundRect">
            <a:avLst>
              <a:gd name="adj" fmla="val 5000"/>
            </a:avLst>
          </a:prstGeom>
          <a:solidFill>
            <a:srgbClr val="F2F4F8"/>
          </a:solidFill>
          <a:ln w="12700">
            <a:solidFill>
              <a:srgbClr val="F2F4F8"/>
            </a:solidFill>
            <a:prstDash val="solid"/>
          </a:ln>
        </p:spPr>
      </p:sp>
      <p:sp>
        <p:nvSpPr>
          <p:cNvPr id="25" name="Shape 22"/>
          <p:cNvSpPr/>
          <p:nvPr/>
        </p:nvSpPr>
        <p:spPr>
          <a:xfrm>
            <a:off x="4526280" y="3995928"/>
            <a:ext cx="457200" cy="457200"/>
          </a:xfrm>
          <a:prstGeom prst="ellipse">
            <a:avLst/>
          </a:prstGeom>
          <a:solidFill>
            <a:srgbClr val="14B8A6"/>
          </a:solidFill>
          <a:ln w="12700">
            <a:solidFill>
              <a:srgbClr val="14B8A6"/>
            </a:solidFill>
            <a:prstDash val="solid"/>
          </a:ln>
        </p:spPr>
      </p:sp>
      <p:sp>
        <p:nvSpPr>
          <p:cNvPr id="26" name="Text 23"/>
          <p:cNvSpPr txBox="1"/>
          <p:nvPr/>
        </p:nvSpPr>
        <p:spPr>
          <a:xfrm>
            <a:off x="4526280" y="3995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4"/>
          <p:cNvSpPr txBox="1"/>
          <p:nvPr/>
        </p:nvSpPr>
        <p:spPr>
          <a:xfrm>
            <a:off x="5120640" y="3995928"/>
            <a:ext cx="2606040" cy="457200"/>
          </a:xfrm>
          <a:prstGeom prst="rect">
            <a:avLst/>
          </a:prstGeom>
          <a:noFill/>
          <a:ln/>
        </p:spPr>
        <p:txBody>
          <a:bodyPr wrap="square" lIns="0" tIns="0" rIns="0" bIns="0" rtlCol="0" anchor="ctr"/>
          <a:lstStyle/>
          <a:p>
            <a:pPr indent="0" marL="0">
              <a:buNone/>
            </a:pPr>
            <a:r>
              <a:rPr lang="en-US" sz="1700" b="1" dirty="0">
                <a:solidFill>
                  <a:srgbClr val="1B2030"/>
                </a:solidFill>
                <a:latin typeface="Calibri" pitchFamily="34" charset="0"/>
                <a:ea typeface="Calibri" pitchFamily="34" charset="-122"/>
                <a:cs typeface="Calibri" pitchFamily="34" charset="-120"/>
              </a:rPr>
              <a:t>Canary and rollback</a:t>
            </a:r>
            <a:endParaRPr lang="en-US" sz="1700" dirty="0"/>
          </a:p>
        </p:txBody>
      </p:sp>
      <p:sp>
        <p:nvSpPr>
          <p:cNvPr id="28" name="Text 25"/>
          <p:cNvSpPr txBox="1"/>
          <p:nvPr/>
        </p:nvSpPr>
        <p:spPr>
          <a:xfrm>
            <a:off x="4526280" y="4663440"/>
            <a:ext cx="3108960" cy="12344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Revert automatically if a fix regresses another service.</a:t>
            </a:r>
            <a:endParaRPr lang="en-US" sz="1400" dirty="0"/>
          </a:p>
        </p:txBody>
      </p:sp>
      <p:sp>
        <p:nvSpPr>
          <p:cNvPr id="29" name="Idea card"/>
          <p:cNvSpPr/>
          <p:nvPr/>
        </p:nvSpPr>
        <p:spPr>
          <a:xfrm>
            <a:off x="8046720" y="3794760"/>
            <a:ext cx="3566160" cy="2194560"/>
          </a:xfrm>
          <a:prstGeom prst="roundRect">
            <a:avLst>
              <a:gd name="adj" fmla="val 5000"/>
            </a:avLst>
          </a:prstGeom>
          <a:solidFill>
            <a:srgbClr val="F2F4F8"/>
          </a:solidFill>
          <a:ln w="12700">
            <a:solidFill>
              <a:srgbClr val="F2F4F8"/>
            </a:solidFill>
            <a:prstDash val="solid"/>
          </a:ln>
        </p:spPr>
      </p:sp>
      <p:sp>
        <p:nvSpPr>
          <p:cNvPr id="30" name="Shape 27"/>
          <p:cNvSpPr/>
          <p:nvPr/>
        </p:nvSpPr>
        <p:spPr>
          <a:xfrm>
            <a:off x="8275320" y="3995928"/>
            <a:ext cx="457200" cy="457200"/>
          </a:xfrm>
          <a:prstGeom prst="ellipse">
            <a:avLst/>
          </a:prstGeom>
          <a:solidFill>
            <a:srgbClr val="14B8A6"/>
          </a:solidFill>
          <a:ln w="12700">
            <a:solidFill>
              <a:srgbClr val="14B8A6"/>
            </a:solidFill>
            <a:prstDash val="solid"/>
          </a:ln>
        </p:spPr>
      </p:sp>
      <p:sp>
        <p:nvSpPr>
          <p:cNvPr id="31" name="Text 28"/>
          <p:cNvSpPr txBox="1"/>
          <p:nvPr/>
        </p:nvSpPr>
        <p:spPr>
          <a:xfrm>
            <a:off x="8275320" y="3995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29"/>
          <p:cNvSpPr txBox="1"/>
          <p:nvPr/>
        </p:nvSpPr>
        <p:spPr>
          <a:xfrm>
            <a:off x="8869680" y="3995928"/>
            <a:ext cx="2606040" cy="457200"/>
          </a:xfrm>
          <a:prstGeom prst="rect">
            <a:avLst/>
          </a:prstGeom>
          <a:noFill/>
          <a:ln/>
        </p:spPr>
        <p:txBody>
          <a:bodyPr wrap="square" lIns="0" tIns="0" rIns="0" bIns="0" rtlCol="0" anchor="ctr"/>
          <a:lstStyle/>
          <a:p>
            <a:pPr indent="0" marL="0">
              <a:buNone/>
            </a:pPr>
            <a:r>
              <a:rPr lang="en-US" sz="1700" b="1" dirty="0">
                <a:solidFill>
                  <a:srgbClr val="1B2030"/>
                </a:solidFill>
                <a:latin typeface="Calibri" pitchFamily="34" charset="0"/>
                <a:ea typeface="Calibri" pitchFamily="34" charset="-122"/>
                <a:cs typeface="Calibri" pitchFamily="34" charset="-120"/>
              </a:rPr>
              <a:t>GitHub App</a:t>
            </a:r>
            <a:endParaRPr lang="en-US" sz="1700" dirty="0"/>
          </a:p>
        </p:txBody>
      </p:sp>
      <p:sp>
        <p:nvSpPr>
          <p:cNvPr id="33" name="Text 30"/>
          <p:cNvSpPr txBox="1"/>
          <p:nvPr/>
        </p:nvSpPr>
        <p:spPr>
          <a:xfrm>
            <a:off x="8275320" y="4663440"/>
            <a:ext cx="3108960" cy="12344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Install on any repository; review and incident comments with no local setup.</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Future scope: the longer vision</a:t>
            </a:r>
            <a:endParaRPr lang="en-US" sz="3200" dirty="0"/>
          </a:p>
        </p:txBody>
      </p:sp>
      <p:sp>
        <p:nvSpPr>
          <p:cNvPr id="4" name="Horizon card"/>
          <p:cNvSpPr/>
          <p:nvPr/>
        </p:nvSpPr>
        <p:spPr>
          <a:xfrm>
            <a:off x="548640" y="1417320"/>
            <a:ext cx="3566160" cy="3840480"/>
          </a:xfrm>
          <a:prstGeom prst="roundRect">
            <a:avLst>
              <a:gd name="adj" fmla="val 3077"/>
            </a:avLst>
          </a:prstGeom>
          <a:solidFill>
            <a:srgbClr val="F2F4F8"/>
          </a:solidFill>
          <a:ln w="12700">
            <a:solidFill>
              <a:srgbClr val="F2F4F8"/>
            </a:solidFill>
            <a:prstDash val="solid"/>
          </a:ln>
        </p:spPr>
      </p:sp>
      <p:sp>
        <p:nvSpPr>
          <p:cNvPr id="5" name="Tag"/>
          <p:cNvSpPr/>
          <p:nvPr/>
        </p:nvSpPr>
        <p:spPr>
          <a:xfrm>
            <a:off x="777240" y="1645920"/>
            <a:ext cx="1097280" cy="384048"/>
          </a:xfrm>
          <a:prstGeom prst="roundRect">
            <a:avLst>
              <a:gd name="adj" fmla="val 28571"/>
            </a:avLst>
          </a:prstGeom>
          <a:solidFill>
            <a:srgbClr val="14B8A6"/>
          </a:solidFill>
          <a:ln w="12700">
            <a:solidFill>
              <a:srgbClr val="14B8A6"/>
            </a:solidFill>
            <a:prstDash val="solid"/>
          </a:ln>
        </p:spPr>
      </p:sp>
      <p:sp>
        <p:nvSpPr>
          <p:cNvPr id="6" name="Text 3"/>
          <p:cNvSpPr txBox="1"/>
          <p:nvPr/>
        </p:nvSpPr>
        <p:spPr>
          <a:xfrm>
            <a:off x="777240" y="1645920"/>
            <a:ext cx="10972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Built</a:t>
            </a:r>
            <a:endParaRPr lang="en-US" sz="1400" dirty="0"/>
          </a:p>
        </p:txBody>
      </p:sp>
      <p:sp>
        <p:nvSpPr>
          <p:cNvPr id="7" name="Text 4"/>
          <p:cNvSpPr txBox="1"/>
          <p:nvPr/>
        </p:nvSpPr>
        <p:spPr>
          <a:xfrm>
            <a:off x="777240" y="2240280"/>
            <a:ext cx="3108960" cy="457200"/>
          </a:xfrm>
          <a:prstGeom prst="rect">
            <a:avLst/>
          </a:prstGeom>
          <a:noFill/>
          <a:ln/>
        </p:spPr>
        <p:txBody>
          <a:bodyPr wrap="square" lIns="0" tIns="0" rIns="0" bIns="0" rtlCol="0" anchor="t"/>
          <a:lstStyle/>
          <a:p>
            <a:pPr indent="0" marL="0">
              <a:buNone/>
            </a:pPr>
            <a:r>
              <a:rPr lang="en-US" sz="2000" b="1" dirty="0">
                <a:solidFill>
                  <a:srgbClr val="1B2030"/>
                </a:solidFill>
                <a:latin typeface="Calibri" pitchFamily="34" charset="0"/>
                <a:ea typeface="Calibri" pitchFamily="34" charset="-122"/>
                <a:cs typeface="Calibri" pitchFamily="34" charset="-120"/>
              </a:rPr>
              <a:t>Now</a:t>
            </a:r>
            <a:endParaRPr lang="en-US" sz="2000" dirty="0"/>
          </a:p>
        </p:txBody>
      </p:sp>
      <p:sp>
        <p:nvSpPr>
          <p:cNvPr id="8" name="Text 5"/>
          <p:cNvSpPr txBox="1"/>
          <p:nvPr/>
        </p:nvSpPr>
        <p:spPr>
          <a:xfrm>
            <a:off x="777240" y="2880360"/>
            <a:ext cx="315468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Containerised shop, 5 services</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15 faults, AI repair, key fallback</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Dashboard + storefront + tests</a:t>
            </a:r>
            <a:endParaRPr lang="en-US" sz="1500" dirty="0"/>
          </a:p>
        </p:txBody>
      </p:sp>
      <p:sp>
        <p:nvSpPr>
          <p:cNvPr id="9" name="Shape 6"/>
          <p:cNvSpPr/>
          <p:nvPr/>
        </p:nvSpPr>
        <p:spPr>
          <a:xfrm>
            <a:off x="4114800" y="3337560"/>
            <a:ext cx="182880" cy="0"/>
          </a:xfrm>
          <a:prstGeom prst="line">
            <a:avLst/>
          </a:prstGeom>
          <a:noFill/>
          <a:ln w="22225">
            <a:solidFill>
              <a:srgbClr val="6B7280"/>
            </a:solidFill>
            <a:prstDash val="solid"/>
            <a:tailEnd type="triangle"/>
          </a:ln>
        </p:spPr>
      </p:sp>
      <p:sp>
        <p:nvSpPr>
          <p:cNvPr id="10" name="Horizon card"/>
          <p:cNvSpPr/>
          <p:nvPr/>
        </p:nvSpPr>
        <p:spPr>
          <a:xfrm>
            <a:off x="4297680" y="1417320"/>
            <a:ext cx="3566160" cy="3840480"/>
          </a:xfrm>
          <a:prstGeom prst="roundRect">
            <a:avLst>
              <a:gd name="adj" fmla="val 3077"/>
            </a:avLst>
          </a:prstGeom>
          <a:solidFill>
            <a:srgbClr val="F2F4F8"/>
          </a:solidFill>
          <a:ln w="12700">
            <a:solidFill>
              <a:srgbClr val="F2F4F8"/>
            </a:solidFill>
            <a:prstDash val="solid"/>
          </a:ln>
        </p:spPr>
      </p:sp>
      <p:sp>
        <p:nvSpPr>
          <p:cNvPr id="11" name="Tag"/>
          <p:cNvSpPr/>
          <p:nvPr/>
        </p:nvSpPr>
        <p:spPr>
          <a:xfrm>
            <a:off x="4526280" y="1645920"/>
            <a:ext cx="1097280" cy="384048"/>
          </a:xfrm>
          <a:prstGeom prst="roundRect">
            <a:avLst>
              <a:gd name="adj" fmla="val 28571"/>
            </a:avLst>
          </a:prstGeom>
          <a:solidFill>
            <a:srgbClr val="F59E0B"/>
          </a:solidFill>
          <a:ln w="12700">
            <a:solidFill>
              <a:srgbClr val="F59E0B"/>
            </a:solidFill>
            <a:prstDash val="solid"/>
          </a:ln>
        </p:spPr>
      </p:sp>
      <p:sp>
        <p:nvSpPr>
          <p:cNvPr id="12" name="Text 9"/>
          <p:cNvSpPr txBox="1"/>
          <p:nvPr/>
        </p:nvSpPr>
        <p:spPr>
          <a:xfrm>
            <a:off x="4526280" y="1645920"/>
            <a:ext cx="10972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Harden</a:t>
            </a:r>
            <a:endParaRPr lang="en-US" sz="1400" dirty="0"/>
          </a:p>
        </p:txBody>
      </p:sp>
      <p:sp>
        <p:nvSpPr>
          <p:cNvPr id="13" name="Text 10"/>
          <p:cNvSpPr txBox="1"/>
          <p:nvPr/>
        </p:nvSpPr>
        <p:spPr>
          <a:xfrm>
            <a:off x="4526280" y="2240280"/>
            <a:ext cx="3108960" cy="457200"/>
          </a:xfrm>
          <a:prstGeom prst="rect">
            <a:avLst/>
          </a:prstGeom>
          <a:noFill/>
          <a:ln/>
        </p:spPr>
        <p:txBody>
          <a:bodyPr wrap="square" lIns="0" tIns="0" rIns="0" bIns="0" rtlCol="0" anchor="t"/>
          <a:lstStyle/>
          <a:p>
            <a:pPr indent="0" marL="0">
              <a:buNone/>
            </a:pPr>
            <a:r>
              <a:rPr lang="en-US" sz="2000" b="1" dirty="0">
                <a:solidFill>
                  <a:srgbClr val="1B2030"/>
                </a:solidFill>
                <a:latin typeface="Calibri" pitchFamily="34" charset="0"/>
                <a:ea typeface="Calibri" pitchFamily="34" charset="-122"/>
                <a:cs typeface="Calibri" pitchFamily="34" charset="-120"/>
              </a:rPr>
              <a:t>Next, 3 to 6 months</a:t>
            </a:r>
            <a:endParaRPr lang="en-US" sz="2000" dirty="0"/>
          </a:p>
        </p:txBody>
      </p:sp>
      <p:sp>
        <p:nvSpPr>
          <p:cNvPr id="14" name="Text 11"/>
          <p:cNvSpPr txBox="1"/>
          <p:nvPr/>
        </p:nvSpPr>
        <p:spPr>
          <a:xfrm>
            <a:off x="4526280" y="2880360"/>
            <a:ext cx="315468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Multi-language support via tree-sitter</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Kubernetes operator instead of Compose</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Policy guardrails: path allow-list, cost budgets</a:t>
            </a:r>
            <a:endParaRPr lang="en-US" sz="1500" dirty="0"/>
          </a:p>
        </p:txBody>
      </p:sp>
      <p:sp>
        <p:nvSpPr>
          <p:cNvPr id="15" name="Shape 12"/>
          <p:cNvSpPr/>
          <p:nvPr/>
        </p:nvSpPr>
        <p:spPr>
          <a:xfrm>
            <a:off x="7863840" y="3337560"/>
            <a:ext cx="182880" cy="0"/>
          </a:xfrm>
          <a:prstGeom prst="line">
            <a:avLst/>
          </a:prstGeom>
          <a:noFill/>
          <a:ln w="22225">
            <a:solidFill>
              <a:srgbClr val="6B7280"/>
            </a:solidFill>
            <a:prstDash val="solid"/>
            <a:tailEnd type="triangle"/>
          </a:ln>
        </p:spPr>
      </p:sp>
      <p:sp>
        <p:nvSpPr>
          <p:cNvPr id="16" name="Horizon card"/>
          <p:cNvSpPr/>
          <p:nvPr/>
        </p:nvSpPr>
        <p:spPr>
          <a:xfrm>
            <a:off x="8046720" y="1417320"/>
            <a:ext cx="3566160" cy="3840480"/>
          </a:xfrm>
          <a:prstGeom prst="roundRect">
            <a:avLst>
              <a:gd name="adj" fmla="val 3077"/>
            </a:avLst>
          </a:prstGeom>
          <a:solidFill>
            <a:srgbClr val="F2F4F8"/>
          </a:solidFill>
          <a:ln w="12700">
            <a:solidFill>
              <a:srgbClr val="F2F4F8"/>
            </a:solidFill>
            <a:prstDash val="solid"/>
          </a:ln>
        </p:spPr>
      </p:sp>
      <p:sp>
        <p:nvSpPr>
          <p:cNvPr id="17" name="Tag"/>
          <p:cNvSpPr/>
          <p:nvPr/>
        </p:nvSpPr>
        <p:spPr>
          <a:xfrm>
            <a:off x="8275320" y="1645920"/>
            <a:ext cx="1097280" cy="384048"/>
          </a:xfrm>
          <a:prstGeom prst="roundRect">
            <a:avLst>
              <a:gd name="adj" fmla="val 28571"/>
            </a:avLst>
          </a:prstGeom>
          <a:solidFill>
            <a:srgbClr val="6366F1"/>
          </a:solidFill>
          <a:ln w="12700">
            <a:solidFill>
              <a:srgbClr val="6366F1"/>
            </a:solidFill>
            <a:prstDash val="solid"/>
          </a:ln>
        </p:spPr>
      </p:sp>
      <p:sp>
        <p:nvSpPr>
          <p:cNvPr id="18" name="Text 15"/>
          <p:cNvSpPr txBox="1"/>
          <p:nvPr/>
        </p:nvSpPr>
        <p:spPr>
          <a:xfrm>
            <a:off x="8275320" y="1645920"/>
            <a:ext cx="10972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Scale</a:t>
            </a:r>
            <a:endParaRPr lang="en-US" sz="1400" dirty="0"/>
          </a:p>
        </p:txBody>
      </p:sp>
      <p:sp>
        <p:nvSpPr>
          <p:cNvPr id="19" name="Text 16"/>
          <p:cNvSpPr txBox="1"/>
          <p:nvPr/>
        </p:nvSpPr>
        <p:spPr>
          <a:xfrm>
            <a:off x="8275320" y="2240280"/>
            <a:ext cx="3108960" cy="457200"/>
          </a:xfrm>
          <a:prstGeom prst="rect">
            <a:avLst/>
          </a:prstGeom>
          <a:noFill/>
          <a:ln/>
        </p:spPr>
        <p:txBody>
          <a:bodyPr wrap="square" lIns="0" tIns="0" rIns="0" bIns="0" rtlCol="0" anchor="t"/>
          <a:lstStyle/>
          <a:p>
            <a:pPr indent="0" marL="0">
              <a:buNone/>
            </a:pPr>
            <a:r>
              <a:rPr lang="en-US" sz="2000" b="1" dirty="0">
                <a:solidFill>
                  <a:srgbClr val="1B2030"/>
                </a:solidFill>
                <a:latin typeface="Calibri" pitchFamily="34" charset="0"/>
                <a:ea typeface="Calibri" pitchFamily="34" charset="-122"/>
                <a:cs typeface="Calibri" pitchFamily="34" charset="-120"/>
              </a:rPr>
              <a:t>Later, up to a year</a:t>
            </a:r>
            <a:endParaRPr lang="en-US" sz="2000" dirty="0"/>
          </a:p>
        </p:txBody>
      </p:sp>
      <p:sp>
        <p:nvSpPr>
          <p:cNvPr id="20" name="Text 17"/>
          <p:cNvSpPr txBox="1"/>
          <p:nvPr/>
        </p:nvSpPr>
        <p:spPr>
          <a:xfrm>
            <a:off x="8275320" y="2880360"/>
            <a:ext cx="315468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Retrieval-aware repair across services</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Small fine-tuned model to cut cost</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Multi-agent: triage, fixer, reviewer</a:t>
            </a:r>
            <a:endParaRPr lang="en-US" sz="1500" dirty="0"/>
          </a:p>
          <a:p>
            <a:pPr marL="342900" indent="-342900">
              <a:spcAft>
                <a:spcPts val="1000"/>
              </a:spcAft>
              <a:buSzPct val="100000"/>
              <a:buChar char="•"/>
            </a:pPr>
            <a:r>
              <a:rPr lang="en-US" sz="1500" dirty="0">
                <a:solidFill>
                  <a:srgbClr val="1B2030"/>
                </a:solidFill>
                <a:latin typeface="Calibri" pitchFamily="34" charset="0"/>
                <a:ea typeface="Calibri" pitchFamily="34" charset="-122"/>
                <a:cs typeface="Calibri" pitchFamily="34" charset="-120"/>
              </a:rPr>
              <a:t>Learning from past incidents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Faculty feedback and our response</a:t>
            </a:r>
            <a:endParaRPr lang="en-US" sz="3200" dirty="0"/>
          </a:p>
        </p:txBody>
      </p:sp>
      <p:sp>
        <p:nvSpPr>
          <p:cNvPr id="4" name="Feedback row"/>
          <p:cNvSpPr/>
          <p:nvPr/>
        </p:nvSpPr>
        <p:spPr>
          <a:xfrm>
            <a:off x="548640" y="1371600"/>
            <a:ext cx="11064240" cy="1051560"/>
          </a:xfrm>
          <a:prstGeom prst="roundRect">
            <a:avLst>
              <a:gd name="adj" fmla="val 10435"/>
            </a:avLst>
          </a:prstGeom>
          <a:solidFill>
            <a:srgbClr val="F2F4F8"/>
          </a:solidFill>
          <a:ln w="12700">
            <a:solidFill>
              <a:srgbClr val="F2F4F8"/>
            </a:solidFill>
            <a:prstDash val="solid"/>
          </a:ln>
        </p:spPr>
      </p:sp>
      <p:sp>
        <p:nvSpPr>
          <p:cNvPr id="5" name="Shape 2"/>
          <p:cNvSpPr/>
          <p:nvPr/>
        </p:nvSpPr>
        <p:spPr>
          <a:xfrm>
            <a:off x="777240" y="1673352"/>
            <a:ext cx="457200" cy="457200"/>
          </a:xfrm>
          <a:prstGeom prst="ellipse">
            <a:avLst/>
          </a:prstGeom>
          <a:solidFill>
            <a:srgbClr val="14B8A6"/>
          </a:solidFill>
          <a:ln w="12700">
            <a:solidFill>
              <a:srgbClr val="14B8A6"/>
            </a:solidFill>
            <a:prstDash val="solid"/>
          </a:ln>
        </p:spPr>
      </p:sp>
      <p:sp>
        <p:nvSpPr>
          <p:cNvPr id="6" name="Text 3"/>
          <p:cNvSpPr txBox="1"/>
          <p:nvPr/>
        </p:nvSpPr>
        <p:spPr>
          <a:xfrm>
            <a:off x="777240" y="1673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463040" y="1463040"/>
            <a:ext cx="3108960" cy="868680"/>
          </a:xfrm>
          <a:prstGeom prst="rect">
            <a:avLst/>
          </a:prstGeom>
          <a:noFill/>
          <a:ln/>
        </p:spPr>
        <p:txBody>
          <a:bodyPr wrap="square" lIns="0" tIns="0" rIns="0" bIns="0" rtlCol="0" anchor="ctr"/>
          <a:lstStyle/>
          <a:p>
            <a:pPr indent="0" marL="0">
              <a:buNone/>
            </a:pPr>
            <a:r>
              <a:rPr lang="en-US" sz="1800" b="1" dirty="0">
                <a:solidFill>
                  <a:srgbClr val="1B2030"/>
                </a:solidFill>
                <a:latin typeface="Calibri" pitchFamily="34" charset="0"/>
                <a:ea typeface="Calibri" pitchFamily="34" charset="-122"/>
                <a:cs typeface="Calibri" pitchFamily="34" charset="-120"/>
              </a:rPr>
              <a:t>Create a proper application</a:t>
            </a:r>
            <a:endParaRPr lang="en-US" sz="1800" dirty="0"/>
          </a:p>
        </p:txBody>
      </p:sp>
      <p:sp>
        <p:nvSpPr>
          <p:cNvPr id="8" name="Text 5"/>
          <p:cNvSpPr txBox="1"/>
          <p:nvPr/>
        </p:nvSpPr>
        <p:spPr>
          <a:xfrm>
            <a:off x="4663440" y="1463040"/>
            <a:ext cx="6766560" cy="86868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Seven containers started with one command, a real storefront, and a separate control-plane dashboard with break, fix and restore buttons.</a:t>
            </a:r>
            <a:endParaRPr lang="en-US" sz="1400" dirty="0"/>
          </a:p>
        </p:txBody>
      </p:sp>
      <p:sp>
        <p:nvSpPr>
          <p:cNvPr id="9" name="Feedback row"/>
          <p:cNvSpPr/>
          <p:nvPr/>
        </p:nvSpPr>
        <p:spPr>
          <a:xfrm>
            <a:off x="548640" y="2560320"/>
            <a:ext cx="11064240" cy="1051560"/>
          </a:xfrm>
          <a:prstGeom prst="roundRect">
            <a:avLst>
              <a:gd name="adj" fmla="val 10435"/>
            </a:avLst>
          </a:prstGeom>
          <a:solidFill>
            <a:srgbClr val="F2F4F8"/>
          </a:solidFill>
          <a:ln w="12700">
            <a:solidFill>
              <a:srgbClr val="F2F4F8"/>
            </a:solidFill>
            <a:prstDash val="solid"/>
          </a:ln>
        </p:spPr>
      </p:sp>
      <p:sp>
        <p:nvSpPr>
          <p:cNvPr id="10" name="Shape 7"/>
          <p:cNvSpPr/>
          <p:nvPr/>
        </p:nvSpPr>
        <p:spPr>
          <a:xfrm>
            <a:off x="777240" y="2862072"/>
            <a:ext cx="457200" cy="457200"/>
          </a:xfrm>
          <a:prstGeom prst="ellipse">
            <a:avLst/>
          </a:prstGeom>
          <a:solidFill>
            <a:srgbClr val="14B8A6"/>
          </a:solidFill>
          <a:ln w="12700">
            <a:solidFill>
              <a:srgbClr val="14B8A6"/>
            </a:solidFill>
            <a:prstDash val="solid"/>
          </a:ln>
        </p:spPr>
      </p:sp>
      <p:sp>
        <p:nvSpPr>
          <p:cNvPr id="11" name="Text 8"/>
          <p:cNvSpPr txBox="1"/>
          <p:nvPr/>
        </p:nvSpPr>
        <p:spPr>
          <a:xfrm>
            <a:off x="77724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463040" y="2651760"/>
            <a:ext cx="3108960" cy="868680"/>
          </a:xfrm>
          <a:prstGeom prst="rect">
            <a:avLst/>
          </a:prstGeom>
          <a:noFill/>
          <a:ln/>
        </p:spPr>
        <p:txBody>
          <a:bodyPr wrap="square" lIns="0" tIns="0" rIns="0" bIns="0" rtlCol="0" anchor="ctr"/>
          <a:lstStyle/>
          <a:p>
            <a:pPr indent="0" marL="0">
              <a:buNone/>
            </a:pPr>
            <a:r>
              <a:rPr lang="en-US" sz="1800" b="1" dirty="0">
                <a:solidFill>
                  <a:srgbClr val="1B2030"/>
                </a:solidFill>
                <a:latin typeface="Calibri" pitchFamily="34" charset="0"/>
                <a:ea typeface="Calibri" pitchFamily="34" charset="-122"/>
                <a:cs typeface="Calibri" pitchFamily="34" charset="-120"/>
              </a:rPr>
              <a:t>Improve the future scope</a:t>
            </a:r>
            <a:endParaRPr lang="en-US" sz="1800" dirty="0"/>
          </a:p>
        </p:txBody>
      </p:sp>
      <p:sp>
        <p:nvSpPr>
          <p:cNvPr id="13" name="Text 10"/>
          <p:cNvSpPr txBox="1"/>
          <p:nvPr/>
        </p:nvSpPr>
        <p:spPr>
          <a:xfrm>
            <a:off x="4663440" y="2651760"/>
            <a:ext cx="6766560" cy="86868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concrete roadmap in three horizons, starting with a human-approval pull-request flow and a larger benchmark.</a:t>
            </a:r>
            <a:endParaRPr lang="en-US" sz="1400" dirty="0"/>
          </a:p>
        </p:txBody>
      </p:sp>
      <p:sp>
        <p:nvSpPr>
          <p:cNvPr id="14" name="Feedback row"/>
          <p:cNvSpPr/>
          <p:nvPr/>
        </p:nvSpPr>
        <p:spPr>
          <a:xfrm>
            <a:off x="548640" y="3749040"/>
            <a:ext cx="11064240" cy="1051560"/>
          </a:xfrm>
          <a:prstGeom prst="roundRect">
            <a:avLst>
              <a:gd name="adj" fmla="val 10435"/>
            </a:avLst>
          </a:prstGeom>
          <a:solidFill>
            <a:srgbClr val="F2F4F8"/>
          </a:solidFill>
          <a:ln w="12700">
            <a:solidFill>
              <a:srgbClr val="F2F4F8"/>
            </a:solidFill>
            <a:prstDash val="solid"/>
          </a:ln>
        </p:spPr>
      </p:sp>
      <p:sp>
        <p:nvSpPr>
          <p:cNvPr id="15" name="Shape 12"/>
          <p:cNvSpPr/>
          <p:nvPr/>
        </p:nvSpPr>
        <p:spPr>
          <a:xfrm>
            <a:off x="777240" y="4050792"/>
            <a:ext cx="457200" cy="457200"/>
          </a:xfrm>
          <a:prstGeom prst="ellipse">
            <a:avLst/>
          </a:prstGeom>
          <a:solidFill>
            <a:srgbClr val="14B8A6"/>
          </a:solidFill>
          <a:ln w="12700">
            <a:solidFill>
              <a:srgbClr val="14B8A6"/>
            </a:solidFill>
            <a:prstDash val="solid"/>
          </a:ln>
        </p:spPr>
      </p:sp>
      <p:sp>
        <p:nvSpPr>
          <p:cNvPr id="16" name="Text 13"/>
          <p:cNvSpPr txBox="1"/>
          <p:nvPr/>
        </p:nvSpPr>
        <p:spPr>
          <a:xfrm>
            <a:off x="777240" y="4050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1463040" y="3840480"/>
            <a:ext cx="3108960" cy="868680"/>
          </a:xfrm>
          <a:prstGeom prst="rect">
            <a:avLst/>
          </a:prstGeom>
          <a:noFill/>
          <a:ln/>
        </p:spPr>
        <p:txBody>
          <a:bodyPr wrap="square" lIns="0" tIns="0" rIns="0" bIns="0" rtlCol="0" anchor="ctr"/>
          <a:lstStyle/>
          <a:p>
            <a:pPr indent="0" marL="0">
              <a:buNone/>
            </a:pPr>
            <a:r>
              <a:rPr lang="en-US" sz="1800" b="1" dirty="0">
                <a:solidFill>
                  <a:srgbClr val="1B2030"/>
                </a:solidFill>
                <a:latin typeface="Calibri" pitchFamily="34" charset="0"/>
                <a:ea typeface="Calibri" pitchFamily="34" charset="-122"/>
                <a:cs typeface="Calibri" pitchFamily="34" charset="-120"/>
              </a:rPr>
              <a:t>Compare with corporate work</a:t>
            </a:r>
            <a:endParaRPr lang="en-US" sz="1800" dirty="0"/>
          </a:p>
        </p:txBody>
      </p:sp>
      <p:sp>
        <p:nvSpPr>
          <p:cNvPr id="18" name="Text 15"/>
          <p:cNvSpPr txBox="1"/>
          <p:nvPr/>
        </p:nvSpPr>
        <p:spPr>
          <a:xfrm>
            <a:off x="4663440" y="3840480"/>
            <a:ext cx="6766560" cy="86868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literature survey (11 papers and books) and a feature comparison against Copilot, CodeRabbit, Qodo and Datadog.</a:t>
            </a:r>
            <a:endParaRPr lang="en-US" sz="1400" dirty="0"/>
          </a:p>
        </p:txBody>
      </p:sp>
      <p:sp>
        <p:nvSpPr>
          <p:cNvPr id="19" name="Feedback row"/>
          <p:cNvSpPr/>
          <p:nvPr/>
        </p:nvSpPr>
        <p:spPr>
          <a:xfrm>
            <a:off x="548640" y="4937760"/>
            <a:ext cx="11064240" cy="1051560"/>
          </a:xfrm>
          <a:prstGeom prst="roundRect">
            <a:avLst>
              <a:gd name="adj" fmla="val 10435"/>
            </a:avLst>
          </a:prstGeom>
          <a:solidFill>
            <a:srgbClr val="F2F4F8"/>
          </a:solidFill>
          <a:ln w="12700">
            <a:solidFill>
              <a:srgbClr val="F2F4F8"/>
            </a:solidFill>
            <a:prstDash val="solid"/>
          </a:ln>
        </p:spPr>
      </p:sp>
      <p:sp>
        <p:nvSpPr>
          <p:cNvPr id="20" name="Shape 17"/>
          <p:cNvSpPr/>
          <p:nvPr/>
        </p:nvSpPr>
        <p:spPr>
          <a:xfrm>
            <a:off x="777240" y="5239512"/>
            <a:ext cx="457200" cy="457200"/>
          </a:xfrm>
          <a:prstGeom prst="ellipse">
            <a:avLst/>
          </a:prstGeom>
          <a:solidFill>
            <a:srgbClr val="14B8A6"/>
          </a:solidFill>
          <a:ln w="12700">
            <a:solidFill>
              <a:srgbClr val="14B8A6"/>
            </a:solidFill>
            <a:prstDash val="solid"/>
          </a:ln>
        </p:spPr>
      </p:sp>
      <p:sp>
        <p:nvSpPr>
          <p:cNvPr id="21" name="Text 18"/>
          <p:cNvSpPr txBox="1"/>
          <p:nvPr/>
        </p:nvSpPr>
        <p:spPr>
          <a:xfrm>
            <a:off x="777240" y="5239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463040" y="5029200"/>
            <a:ext cx="3108960" cy="868680"/>
          </a:xfrm>
          <a:prstGeom prst="rect">
            <a:avLst/>
          </a:prstGeom>
          <a:noFill/>
          <a:ln/>
        </p:spPr>
        <p:txBody>
          <a:bodyPr wrap="square" lIns="0" tIns="0" rIns="0" bIns="0" rtlCol="0" anchor="ctr"/>
          <a:lstStyle/>
          <a:p>
            <a:pPr indent="0" marL="0">
              <a:buNone/>
            </a:pPr>
            <a:r>
              <a:rPr lang="en-US" sz="1800" b="1" dirty="0">
                <a:solidFill>
                  <a:srgbClr val="1B2030"/>
                </a:solidFill>
                <a:latin typeface="Calibri" pitchFamily="34" charset="0"/>
                <a:ea typeface="Calibri" pitchFamily="34" charset="-122"/>
                <a:cs typeface="Calibri" pitchFamily="34" charset="-120"/>
              </a:rPr>
              <a:t>Live servers and watchdog</a:t>
            </a:r>
            <a:endParaRPr lang="en-US" sz="1800" dirty="0"/>
          </a:p>
        </p:txBody>
      </p:sp>
      <p:sp>
        <p:nvSpPr>
          <p:cNvPr id="23" name="Text 20"/>
          <p:cNvSpPr txBox="1"/>
          <p:nvPr/>
        </p:nvSpPr>
        <p:spPr>
          <a:xfrm>
            <a:off x="4663440" y="5029200"/>
            <a:ext cx="6766560" cy="86868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control plane probes every service every 3 s, separates root causes from knock-on failures, logs every action, and opens a GitHub incident PR with a review comment.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rgbClr val="1B2030"/>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417320"/>
            <a:ext cx="5440680" cy="4754880"/>
          </a:xfrm>
          <a:prstGeom prst="rect">
            <a:avLst/>
          </a:prstGeom>
          <a:noFill/>
          <a:ln/>
        </p:spPr>
        <p:txBody>
          <a:bodyPr wrap="square" lIns="0" tIns="0" rIns="0" bIns="0" rtlCol="0" anchor="t"/>
          <a:lstStyle/>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[1] Le Goues, C., Nguyen, T., Forrest, S., Weimer, W. GenProg: A Generic Method for Automatic Software Repair. IEEE Trans. Software Engineering 38(1), 2012.</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[2] Li, Z. et al. Automating Code Review Activities by Large-Scale Pre-training. ESEC/FSE 2022.</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[3] Jimenez, C. E. et al. SWE-bench: Can Language Models Resolve Real-World GitHub Issues? ICLR 2024.</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[4] Yang, J. et al. SWE-agent: Agent-Computer Interfaces Enable Automated Software Engineering. NeurIPS 2024.</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[5] Robertson, S., Zaragoza, H. The Probabilistic Relevance Framework: BM25 and Beyond. Foundations and Trends in Information Retrieval 3(4), 2009.</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[6] Lewis, P. et al. Retrieval-Augmented Generation for Knowledge-Intensive NLP Tasks. NeurIPS 2020.</a:t>
            </a:r>
            <a:endParaRPr lang="en-US" sz="1200" dirty="0"/>
          </a:p>
        </p:txBody>
      </p:sp>
      <p:sp>
        <p:nvSpPr>
          <p:cNvPr id="5" name="Text 2"/>
          <p:cNvSpPr txBox="1"/>
          <p:nvPr/>
        </p:nvSpPr>
        <p:spPr>
          <a:xfrm>
            <a:off x="6172200" y="1417320"/>
            <a:ext cx="5440680" cy="4754880"/>
          </a:xfrm>
          <a:prstGeom prst="rect">
            <a:avLst/>
          </a:prstGeom>
          <a:noFill/>
          <a:ln/>
        </p:spPr>
        <p:txBody>
          <a:bodyPr wrap="square" lIns="0" tIns="0" rIns="0" bIns="0" rtlCol="0" anchor="t"/>
          <a:lstStyle/>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[7] Zhang, F. et al. RepoCoder: Repository-Level Code Completion Through Iterative Retrieval and Generation. EMNLP 2023.</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[8] Beyer, B., Jones, C., Petoff, J., Murphy, N. R. (eds.). Site Reliability Engineering. O'Reilly, 2016.</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[9] Basiri, A. et al. Chaos Engineering. IEEE Software 33(3):35-41, 2016.</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[10] Ahmed, T. et al. Recommending Root-Cause and Mitigation Steps for Cloud Incidents using Large Language Models. ICSE 2023.</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[11] Chen, Y. et al. Automatic Root Cause Analysis via Large Language Models for Cloud Incidents (RCACopilot). EuroSys 2024.</a:t>
            </a:r>
            <a:endParaRPr lang="en-US" sz="1200" dirty="0"/>
          </a:p>
          <a:p>
            <a:pPr indent="0" marL="0">
              <a:spcAft>
                <a:spcPts val="900"/>
              </a:spcAft>
              <a:buNone/>
            </a:pPr>
            <a:r>
              <a:rPr lang="en-US" sz="1200" dirty="0">
                <a:solidFill>
                  <a:srgbClr val="1B2030"/>
                </a:solidFill>
                <a:latin typeface="Calibri" pitchFamily="34" charset="0"/>
                <a:ea typeface="Calibri" pitchFamily="34" charset="-122"/>
                <a:cs typeface="Calibri" pitchFamily="34" charset="-120"/>
              </a:rPr>
              <a:t>[12] Vendor documentation: GitHub Copilot, CodeRabbit, Qodo, Datadog Bits AI SRE. Accessed October 2026.</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eviewMind AIDevOps">
  <a:themeElements>
    <a:clrScheme name="ReviewMind AIDevOps">
      <a:dk1>
        <a:srgbClr val="12151F"/>
      </a:dk1>
      <a:lt1>
        <a:srgbClr val="FFFFFF"/>
      </a:lt1>
      <a:dk2>
        <a:srgbClr val="1C2030"/>
      </a:dk2>
      <a:lt2>
        <a:srgbClr val="F2F4F8"/>
      </a:lt2>
      <a:accent1>
        <a:srgbClr val="14B8A6"/>
      </a:accent1>
      <a:accent2>
        <a:srgbClr val="F59E0B"/>
      </a:accent2>
      <a:accent3>
        <a:srgbClr val="EF4444"/>
      </a:accent3>
      <a:accent4>
        <a:srgbClr val="6366F1"/>
      </a:accent4>
      <a:accent5>
        <a:srgbClr val="22C55E"/>
      </a:accent5>
      <a:accent6>
        <a:srgbClr val="6B7280"/>
      </a:accent6>
      <a:hlink>
        <a:srgbClr val="14B8A6"/>
      </a:hlink>
      <a:folHlink>
        <a:srgbClr val="6B7280"/>
      </a:folHlink>
    </a:clrScheme>
    <a:fontScheme name="ReviewMind AIDev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ReviewMind AIDevOps: Phase 2</dc:title>
  <dc:subject>PptxGenJS Presentation</dc:subject>
  <dc:creator>ReviewMind team</dc:creator>
  <cp:lastModifiedBy>ReviewMind team</cp:lastModifiedBy>
  <cp:revision>1</cp:revision>
  <dcterms:created xsi:type="dcterms:W3CDTF">2026-10-28T13:32:04Z</dcterms:created>
  <dcterms:modified xsi:type="dcterms:W3CDTF">2026-10-28T13:32:04Z</dcterms:modified>
</cp:coreProperties>
</file>